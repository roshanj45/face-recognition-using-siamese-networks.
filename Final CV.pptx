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75" r:id="rId11"/>
    <p:sldId id="274" r:id="rId12"/>
    <p:sldId id="264" r:id="rId13"/>
    <p:sldId id="265" r:id="rId14"/>
    <p:sldId id="266" r:id="rId15"/>
    <p:sldId id="267" r:id="rId16"/>
    <p:sldId id="270" r:id="rId17"/>
  </p:sldIdLst>
  <p:sldSz cx="12192000" cy="6858000"/>
  <p:notesSz cx="7315200" cy="9601200"/>
  <p:embeddedFontLst>
    <p:embeddedFont>
      <p:font typeface="Georgia" panose="02040502050405020303"/>
      <p:regular r:id="rId21"/>
    </p:embeddedFont>
    <p:embeddedFont>
      <p:font typeface="Bookman Old Style" panose="02050604050505020204"/>
      <p:regular r:id="rId22"/>
      <p:bold r:id="rId23"/>
      <p:italic r:id="rId24"/>
    </p:embeddedFont>
    <p:embeddedFont>
      <p:font typeface="Arial Narrow" panose="020B0606020202030204"/>
      <p:regular r:id="rId25"/>
      <p:bold r:id="rId26"/>
      <p:italic r:id="rId27"/>
      <p:boldItalic r:id="rId28"/>
    </p:embeddedFont>
    <p:embeddedFont>
      <p:font typeface="Calibri" panose="020F0502020204030204"/>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9" d="100"/>
          <a:sy n="69" d="100"/>
        </p:scale>
        <p:origin x="45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0"/>
        <p:cNvGrpSpPr/>
        <p:nvPr/>
      </p:nvGrpSpPr>
      <p:grpSpPr>
        <a:xfrm>
          <a:off x="0" y="0"/>
          <a:ext cx="0" cy="0"/>
          <a:chOff x="0" y="0"/>
          <a:chExt cx="0" cy="0"/>
        </a:xfrm>
      </p:grpSpPr>
      <p:sp>
        <p:nvSpPr>
          <p:cNvPr id="91" name="Google Shape;91;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1: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93" name="Google Shape;93;p1: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02" name="Google Shape;102;p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10" name="Google Shape;110;p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18" name="Google Shape;118;p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26" name="Google Shape;126;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34" name="Google Shape;134;p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2" name="Google Shape;142;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2" name="Google Shape;142;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2" name="Google Shape;142;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9: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58" name="Google Shape;158;p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4"/>
        <p:cNvGrpSpPr/>
        <p:nvPr/>
      </p:nvGrpSpPr>
      <p:grpSpPr>
        <a:xfrm>
          <a:off x="0" y="0"/>
          <a:ext cx="0" cy="0"/>
          <a:chOff x="0" y="0"/>
          <a:chExt cx="0" cy="0"/>
        </a:xfrm>
      </p:grpSpPr>
      <p:sp>
        <p:nvSpPr>
          <p:cNvPr id="165" name="Google Shape;165;p10: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66" name="Google Shape;166;p1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Google Shape;173;p1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74" name="Google Shape;174;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p12: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82" name="Google Shape;182;p1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4"/>
        <p:cNvGrpSpPr/>
        <p:nvPr/>
      </p:nvGrpSpPr>
      <p:grpSpPr>
        <a:xfrm>
          <a:off x="0" y="0"/>
          <a:ext cx="0" cy="0"/>
          <a:chOff x="0" y="0"/>
          <a:chExt cx="0" cy="0"/>
        </a:xfrm>
      </p:grpSpPr>
      <p:sp>
        <p:nvSpPr>
          <p:cNvPr id="205" name="Google Shape;205;p15: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206" name="Google Shape;206;p1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Georgia" panose="02040502050405020303"/>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21" name="Google Shape;21;p2"/>
          <p:cNvSpPr/>
          <p:nvPr/>
        </p:nvSpPr>
        <p:spPr>
          <a:xfrm>
            <a:off x="6822586" y="-75605"/>
            <a:ext cx="1330814" cy="923330"/>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1" i="0" u="none" strike="noStrike" cap="none">
                <a:solidFill>
                  <a:srgbClr val="FEFEFE"/>
                </a:solidFill>
                <a:latin typeface="Bookman Old Style" panose="02050604050505020204"/>
                <a:ea typeface="Bookman Old Style" panose="02050604050505020204"/>
                <a:cs typeface="Bookman Old Style" panose="02050604050505020204"/>
                <a:sym typeface="Bookman Old Style" panose="02050604050505020204"/>
              </a:rPr>
              <a:t>VIIT</a:t>
            </a:r>
            <a:endParaRPr sz="5400" b="1" i="0" u="none" strike="noStrike" cap="none">
              <a:solidFill>
                <a:srgbClr val="FEFEFE"/>
              </a:solidFill>
              <a:latin typeface="Bookman Old Style" panose="02050604050505020204"/>
              <a:ea typeface="Bookman Old Style" panose="02050604050505020204"/>
              <a:cs typeface="Bookman Old Style" panose="02050604050505020204"/>
              <a:sym typeface="Bookman Old Style" panose="02050604050505020204"/>
            </a:endParaRPr>
          </a:p>
        </p:txBody>
      </p:sp>
      <p:pic>
        <p:nvPicPr>
          <p:cNvPr id="22" name="Google Shape;22;p2" descr="http://www.viit.ac.in/images/viitlogo.gif"/>
          <p:cNvPicPr preferRelativeResize="0"/>
          <p:nvPr/>
        </p:nvPicPr>
        <p:blipFill rotWithShape="1">
          <a:blip r:embed="rId2"/>
          <a:srcRect/>
          <a:stretch>
            <a:fillRect/>
          </a:stretch>
        </p:blipFill>
        <p:spPr>
          <a:xfrm>
            <a:off x="8305800" y="26944"/>
            <a:ext cx="762000" cy="666751"/>
          </a:xfrm>
          <a:prstGeom prst="rect">
            <a:avLst/>
          </a:prstGeom>
          <a:noFill/>
          <a:ln>
            <a:noFill/>
          </a:ln>
          <a:effectLst>
            <a:outerShdw blurRad="50800" dist="38100" dir="2700000" algn="tl" rotWithShape="0">
              <a:srgbClr val="000000">
                <a:alpha val="40000"/>
              </a:srgbClr>
            </a:outerShdw>
          </a:effectLst>
        </p:spPr>
      </p:pic>
      <p:sp>
        <p:nvSpPr>
          <p:cNvPr id="23" name="Google Shape;23;p2"/>
          <p:cNvSpPr txBox="1"/>
          <p:nvPr/>
        </p:nvSpPr>
        <p:spPr>
          <a:xfrm>
            <a:off x="9067800" y="74213"/>
            <a:ext cx="2736647" cy="646331"/>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Department of Electronics and</a:t>
            </a:r>
            <a:endParaRPr lang="en-US" sz="1800" b="0" i="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p>
            <a:pPr marL="0" marR="0" lvl="0" indent="0" algn="l" rtl="0">
              <a:spcBef>
                <a:spcPts val="0"/>
              </a:spcBef>
              <a:spcAft>
                <a:spcPts val="0"/>
              </a:spcAft>
              <a:buNone/>
            </a:pPr>
            <a:r>
              <a:rPr lang="en-US" sz="1800">
                <a:solidFill>
                  <a:schemeClr val="dk1"/>
                </a:solidFill>
                <a:latin typeface="Arial Narrow" panose="020B0606020202030204"/>
                <a:ea typeface="Arial Narrow" panose="020B0606020202030204"/>
                <a:cs typeface="Arial Narrow" panose="020B0606020202030204"/>
                <a:sym typeface="Arial Narrow" panose="020B0606020202030204"/>
              </a:rPr>
              <a:t>Telecommunications</a:t>
            </a:r>
            <a:endParaRPr sz="180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7" name="Google Shape;27;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30" name="Google Shape;30;p3"/>
          <p:cNvSpPr/>
          <p:nvPr/>
        </p:nvSpPr>
        <p:spPr>
          <a:xfrm>
            <a:off x="6711563" y="452665"/>
            <a:ext cx="1330814" cy="923330"/>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1" cap="none">
                <a:solidFill>
                  <a:srgbClr val="FEFEFE"/>
                </a:solidFill>
                <a:latin typeface="Bookman Old Style" panose="02050604050505020204"/>
                <a:ea typeface="Bookman Old Style" panose="02050604050505020204"/>
                <a:cs typeface="Bookman Old Style" panose="02050604050505020204"/>
                <a:sym typeface="Bookman Old Style" panose="02050604050505020204"/>
              </a:rPr>
              <a:t>VIIT</a:t>
            </a:r>
            <a:endParaRPr sz="5400" b="1" cap="none">
              <a:solidFill>
                <a:srgbClr val="FEFEFE"/>
              </a:solidFill>
              <a:latin typeface="Bookman Old Style" panose="02050604050505020204"/>
              <a:ea typeface="Bookman Old Style" panose="02050604050505020204"/>
              <a:cs typeface="Bookman Old Style" panose="02050604050505020204"/>
              <a:sym typeface="Bookman Old Style" panose="02050604050505020204"/>
            </a:endParaRPr>
          </a:p>
        </p:txBody>
      </p:sp>
      <p:pic>
        <p:nvPicPr>
          <p:cNvPr id="31" name="Google Shape;31;p3" descr="http://www.viit.ac.in/images/viitlogo.gif"/>
          <p:cNvPicPr preferRelativeResize="0"/>
          <p:nvPr/>
        </p:nvPicPr>
        <p:blipFill rotWithShape="1">
          <a:blip r:embed="rId2"/>
          <a:srcRect/>
          <a:stretch>
            <a:fillRect/>
          </a:stretch>
        </p:blipFill>
        <p:spPr>
          <a:xfrm>
            <a:off x="8042377" y="566062"/>
            <a:ext cx="762000" cy="772136"/>
          </a:xfrm>
          <a:prstGeom prst="rect">
            <a:avLst/>
          </a:prstGeom>
          <a:noFill/>
          <a:ln>
            <a:noFill/>
          </a:ln>
          <a:effectLst>
            <a:outerShdw blurRad="50800" dist="38100" dir="2700000" algn="tl" rotWithShape="0">
              <a:srgbClr val="000000">
                <a:alpha val="40000"/>
              </a:srgbClr>
            </a:outerShdw>
          </a:effectLst>
        </p:spPr>
      </p:pic>
      <p:sp>
        <p:nvSpPr>
          <p:cNvPr id="32" name="Google Shape;32;p3"/>
          <p:cNvSpPr txBox="1"/>
          <p:nvPr/>
        </p:nvSpPr>
        <p:spPr>
          <a:xfrm>
            <a:off x="8804377" y="644353"/>
            <a:ext cx="2549423" cy="615553"/>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700">
                <a:solidFill>
                  <a:schemeClr val="dk1"/>
                </a:solidFill>
                <a:latin typeface="Arial Narrow" panose="020B0606020202030204"/>
                <a:ea typeface="Arial Narrow" panose="020B0606020202030204"/>
                <a:cs typeface="Arial Narrow" panose="020B0606020202030204"/>
                <a:sym typeface="Arial Narrow" panose="020B0606020202030204"/>
              </a:rPr>
              <a:t>Department of Electronics and Telecommunications</a:t>
            </a:r>
            <a:endParaRPr sz="170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Georgia" panose="02040502050405020303"/>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3" name="Google Shape;4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1" name="Google Shape;5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2" name="Google Shape;5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Georgia" panose="02040502050405020303"/>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7" name="Google Shape;6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7" name="Google Shape;8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Georgia" panose="02040502050405020303"/>
              <a:buNone/>
              <a:defRPr sz="4400" b="0" i="0" u="none" strike="noStrike" cap="none">
                <a:solidFill>
                  <a:schemeClr val="dk1"/>
                </a:solidFill>
                <a:latin typeface="Georgia" panose="02040502050405020303"/>
                <a:ea typeface="Georgia" panose="02040502050405020303"/>
                <a:cs typeface="Georgia" panose="02040502050405020303"/>
                <a:sym typeface="Georgia" panose="020405020504050203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1pPr>
            <a:lvl2pPr marL="0" marR="0" lvl="1"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2pPr>
            <a:lvl3pPr marL="0" marR="0" lvl="2"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3pPr>
            <a:lvl4pPr marL="0" marR="0" lvl="3"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4pPr>
            <a:lvl5pPr marL="0" marR="0" lvl="4"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5pPr>
            <a:lvl6pPr marL="0" marR="0" lvl="5"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6pPr>
            <a:lvl7pPr marL="0" marR="0" lvl="6"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7pPr>
            <a:lvl8pPr marL="0" marR="0" lvl="7"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8pPr>
            <a:lvl9pPr marL="0" marR="0" lvl="8" indent="0" algn="r" rtl="0">
              <a:spcBef>
                <a:spcPts val="0"/>
              </a:spcBef>
              <a:buNone/>
              <a:defRPr sz="1200" b="0" i="0" u="none" strike="noStrike" cap="none">
                <a:solidFill>
                  <a:srgbClr val="888888"/>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hyperlink" Target="https://www.theguardian.com/technology/2019/jul/29/what-is-facialrecognition-and-how-sinister-is-it" TargetMode="External"/><Relationship Id="rId3" Type="http://schemas.openxmlformats.org/officeDocument/2006/relationships/hyperlink" Target="https://towardsdatascience.com/face-detectionwith-haar-cascade-727f68dafd08" TargetMode="External"/><Relationship Id="rId2" Type="http://schemas.openxmlformats.org/officeDocument/2006/relationships/hyperlink" Target="https://searchenterpriseai.techtarget.com/definition/face-detection" TargetMode="External"/><Relationship Id="rId1" Type="http://schemas.openxmlformats.org/officeDocument/2006/relationships/hyperlink" Target="https://www.nec.co.nz/market-leadership/publications-media/a-brief-history-of-facialrecognition/"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3"/>
          <p:cNvSpPr txBox="1">
            <a:spLocks noGrp="1"/>
          </p:cNvSpPr>
          <p:nvPr>
            <p:ph type="ctrTitle"/>
          </p:nvPr>
        </p:nvSpPr>
        <p:spPr>
          <a:xfrm>
            <a:off x="1523999" y="2092758"/>
            <a:ext cx="9144000" cy="2387600"/>
          </a:xfrm>
          <a:prstGeom prst="rect">
            <a:avLst/>
          </a:prstGeom>
          <a:noFill/>
          <a:ln>
            <a:noFill/>
          </a:ln>
          <a:effectLst>
            <a:outerShdw blurRad="107950" dist="12700" dir="5400000" algn="ctr">
              <a:srgbClr val="000000"/>
            </a:outerShdw>
          </a:effectLst>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Bookman Old Style" panose="02050604050505020204"/>
              <a:buNone/>
            </a:pPr>
            <a:r>
              <a:rPr lang="en-US" sz="2000" dirty="0">
                <a:latin typeface="Bookman Old Style" panose="02050604050505020204"/>
                <a:ea typeface="Bookman Old Style" panose="02050604050505020204"/>
                <a:cs typeface="Bookman Old Style" panose="02050604050505020204"/>
                <a:sym typeface="Bookman Old Style" panose="02050604050505020204"/>
              </a:rPr>
              <a:t>Presentation on</a:t>
            </a:r>
            <a:br>
              <a:rPr lang="en-US" sz="4800" dirty="0">
                <a:latin typeface="Bookman Old Style" panose="02050604050505020204"/>
                <a:ea typeface="Bookman Old Style" panose="02050604050505020204"/>
                <a:cs typeface="Bookman Old Style" panose="02050604050505020204"/>
                <a:sym typeface="Bookman Old Style" panose="02050604050505020204"/>
              </a:rPr>
            </a:br>
            <a:r>
              <a:rPr lang="en-US" sz="4800" dirty="0">
                <a:latin typeface="Bookman Old Style" panose="02050604050505020204"/>
                <a:ea typeface="Bookman Old Style" panose="02050604050505020204"/>
                <a:cs typeface="Bookman Old Style" panose="02050604050505020204"/>
                <a:sym typeface="Bookman Old Style" panose="02050604050505020204"/>
              </a:rPr>
              <a:t>Face Recognition using Siamese Networks </a:t>
            </a:r>
            <a:br>
              <a:rPr lang="en-US" sz="4800" dirty="0">
                <a:latin typeface="Bookman Old Style" panose="02050604050505020204"/>
                <a:ea typeface="Bookman Old Style" panose="02050604050505020204"/>
                <a:cs typeface="Bookman Old Style" panose="02050604050505020204"/>
                <a:sym typeface="Bookman Old Style" panose="02050604050505020204"/>
              </a:rPr>
            </a:br>
            <a:r>
              <a:rPr lang="en-US" sz="2400" i="1" dirty="0">
                <a:latin typeface="Bookman Old Style" panose="02050604050505020204"/>
                <a:ea typeface="Bookman Old Style" panose="02050604050505020204"/>
                <a:cs typeface="Bookman Old Style" panose="02050604050505020204"/>
                <a:sym typeface="Bookman Old Style" panose="02050604050505020204"/>
              </a:rPr>
              <a:t>By</a:t>
            </a:r>
            <a:br>
              <a:rPr lang="en-US" sz="2400" i="1" dirty="0">
                <a:latin typeface="Bookman Old Style" panose="02050604050505020204"/>
                <a:ea typeface="Bookman Old Style" panose="02050604050505020204"/>
                <a:cs typeface="Bookman Old Style" panose="02050604050505020204"/>
                <a:sym typeface="Bookman Old Style" panose="02050604050505020204"/>
              </a:rPr>
            </a:br>
            <a:br>
              <a:rPr lang="en-US" sz="2400" i="1" dirty="0">
                <a:latin typeface="Bookman Old Style" panose="02050604050505020204"/>
                <a:ea typeface="Bookman Old Style" panose="02050604050505020204"/>
                <a:cs typeface="Bookman Old Style" panose="02050604050505020204"/>
                <a:sym typeface="Bookman Old Style" panose="02050604050505020204"/>
              </a:rPr>
            </a:b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Prathamesh Bhaskar</a:t>
            </a:r>
            <a:r>
              <a:rPr lang="en-US" sz="2400" dirty="0">
                <a:latin typeface="Bookman Old Style" panose="02050604050505020204"/>
                <a:ea typeface="Bookman Old Style" panose="02050604050505020204"/>
                <a:cs typeface="Bookman Old Style" panose="02050604050505020204"/>
                <a:sym typeface="Bookman Old Style" panose="02050604050505020204"/>
              </a:rPr>
              <a:t>  –</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A</a:t>
            </a:r>
            <a:r>
              <a:rPr lang="en-US" sz="2400" dirty="0">
                <a:latin typeface="Bookman Old Style" panose="02050604050505020204"/>
                <a:ea typeface="Bookman Old Style" panose="02050604050505020204"/>
                <a:cs typeface="Bookman Old Style" panose="02050604050505020204"/>
                <a:sym typeface="Bookman Old Style" panose="02050604050505020204"/>
              </a:rPr>
              <a:t>- 2211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1077</a:t>
            </a:r>
            <a:r>
              <a:rPr lang="en-US" sz="2400" dirty="0">
                <a:latin typeface="Bookman Old Style" panose="02050604050505020204"/>
                <a:ea typeface="Bookman Old Style" panose="02050604050505020204"/>
                <a:cs typeface="Bookman Old Style" panose="02050604050505020204"/>
                <a:sym typeface="Bookman Old Style" panose="02050604050505020204"/>
              </a:rPr>
              <a:t>- 41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1005</a:t>
            </a:r>
            <a:br>
              <a:rPr lang="en-US" sz="2400" dirty="0">
                <a:latin typeface="Bookman Old Style" panose="02050604050505020204"/>
                <a:ea typeface="Bookman Old Style" panose="02050604050505020204"/>
                <a:cs typeface="Bookman Old Style" panose="02050604050505020204"/>
                <a:sym typeface="Bookman Old Style" panose="02050604050505020204"/>
              </a:rPr>
            </a:b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Prajwal Rahte</a:t>
            </a:r>
            <a:r>
              <a:rPr lang="en-US" sz="2400" dirty="0">
                <a:latin typeface="Bookman Old Style" panose="02050604050505020204"/>
                <a:ea typeface="Bookman Old Style" panose="02050604050505020204"/>
                <a:cs typeface="Bookman Old Style" panose="02050604050505020204"/>
                <a:sym typeface="Bookman Old Style" panose="02050604050505020204"/>
              </a:rPr>
              <a:t> –</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A </a:t>
            </a:r>
            <a:r>
              <a:rPr lang="en-US" sz="2400" dirty="0">
                <a:latin typeface="Bookman Old Style" panose="02050604050505020204"/>
                <a:ea typeface="Bookman Old Style" panose="02050604050505020204"/>
                <a:cs typeface="Bookman Old Style" panose="02050604050505020204"/>
                <a:sym typeface="Bookman Old Style" panose="02050604050505020204"/>
              </a:rPr>
              <a:t>- 221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10942</a:t>
            </a:r>
            <a:r>
              <a:rPr lang="en-US" sz="2400" dirty="0">
                <a:latin typeface="Bookman Old Style" panose="02050604050505020204"/>
                <a:ea typeface="Bookman Old Style" panose="02050604050505020204"/>
                <a:cs typeface="Bookman Old Style" panose="02050604050505020204"/>
                <a:sym typeface="Bookman Old Style" panose="02050604050505020204"/>
              </a:rPr>
              <a:t>- 41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1047</a:t>
            </a:r>
            <a:br>
              <a:rPr lang="en-US" sz="2400" dirty="0">
                <a:latin typeface="Bookman Old Style" panose="02050604050505020204"/>
                <a:ea typeface="Bookman Old Style" panose="02050604050505020204"/>
                <a:cs typeface="Bookman Old Style" panose="02050604050505020204"/>
                <a:sym typeface="Bookman Old Style" panose="02050604050505020204"/>
              </a:rPr>
            </a:b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Roshan Jadhav</a:t>
            </a:r>
            <a:r>
              <a:rPr lang="en-US" sz="2400" dirty="0">
                <a:latin typeface="Bookman Old Style" panose="02050604050505020204"/>
                <a:ea typeface="Bookman Old Style" panose="02050604050505020204"/>
                <a:cs typeface="Bookman Old Style" panose="02050604050505020204"/>
                <a:sym typeface="Bookman Old Style" panose="02050604050505020204"/>
              </a:rPr>
              <a:t>  –</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A</a:t>
            </a:r>
            <a:r>
              <a:rPr lang="en-US" sz="2400" dirty="0">
                <a:latin typeface="Bookman Old Style" panose="02050604050505020204"/>
                <a:ea typeface="Bookman Old Style" panose="02050604050505020204"/>
                <a:cs typeface="Bookman Old Style" panose="02050604050505020204"/>
                <a:sym typeface="Bookman Old Style" panose="02050604050505020204"/>
              </a:rPr>
              <a:t>- 22</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220205</a:t>
            </a:r>
            <a:r>
              <a:rPr lang="en-US" sz="2400" dirty="0">
                <a:latin typeface="Bookman Old Style" panose="02050604050505020204"/>
                <a:ea typeface="Bookman Old Style" panose="02050604050505020204"/>
                <a:cs typeface="Bookman Old Style" panose="02050604050505020204"/>
                <a:sym typeface="Bookman Old Style" panose="02050604050505020204"/>
              </a:rPr>
              <a:t>- 41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1019</a:t>
            </a:r>
            <a:br>
              <a:rPr lang="en-US" sz="2400" dirty="0">
                <a:latin typeface="Bookman Old Style" panose="02050604050505020204"/>
                <a:ea typeface="Bookman Old Style" panose="02050604050505020204"/>
                <a:cs typeface="Bookman Old Style" panose="02050604050505020204"/>
                <a:sym typeface="Bookman Old Style" panose="02050604050505020204"/>
              </a:rPr>
            </a:b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Yash Patil</a:t>
            </a:r>
            <a:r>
              <a:rPr lang="en-US" sz="2400" dirty="0">
                <a:latin typeface="Bookman Old Style" panose="02050604050505020204"/>
                <a:ea typeface="Bookman Old Style" panose="02050604050505020204"/>
                <a:cs typeface="Bookman Old Style" panose="02050604050505020204"/>
                <a:sym typeface="Bookman Old Style" panose="02050604050505020204"/>
              </a:rPr>
              <a:t>  –</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A</a:t>
            </a:r>
            <a:r>
              <a:rPr lang="en-US" sz="2400" dirty="0">
                <a:latin typeface="Bookman Old Style" panose="02050604050505020204"/>
                <a:ea typeface="Bookman Old Style" panose="02050604050505020204"/>
                <a:cs typeface="Bookman Old Style" panose="02050604050505020204"/>
                <a:sym typeface="Bookman Old Style" panose="02050604050505020204"/>
              </a:rPr>
              <a:t>- 2211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0340</a:t>
            </a:r>
            <a:r>
              <a:rPr lang="en-US" sz="2400" dirty="0">
                <a:latin typeface="Bookman Old Style" panose="02050604050505020204"/>
                <a:ea typeface="Bookman Old Style" panose="02050604050505020204"/>
                <a:cs typeface="Bookman Old Style" panose="02050604050505020204"/>
                <a:sym typeface="Bookman Old Style" panose="02050604050505020204"/>
              </a:rPr>
              <a:t>- 41</a:t>
            </a:r>
            <a:r>
              <a:rPr lang="en-IN" altLang="en-US" sz="2400" dirty="0">
                <a:latin typeface="Bookman Old Style" panose="02050604050505020204"/>
                <a:ea typeface="Bookman Old Style" panose="02050604050505020204"/>
                <a:cs typeface="Bookman Old Style" panose="02050604050505020204"/>
                <a:sym typeface="Bookman Old Style" panose="02050604050505020204"/>
              </a:rPr>
              <a:t>1079</a:t>
            </a:r>
            <a:r>
              <a:rPr lang="en-US" sz="2400" dirty="0">
                <a:latin typeface="Bookman Old Style" panose="02050604050505020204"/>
                <a:ea typeface="Bookman Old Style" panose="02050604050505020204"/>
                <a:cs typeface="Bookman Old Style" panose="02050604050505020204"/>
                <a:sym typeface="Bookman Old Style" panose="02050604050505020204"/>
              </a:rPr>
              <a:t> </a:t>
            </a:r>
            <a:br>
              <a:rPr lang="en-US" sz="2400" dirty="0">
                <a:latin typeface="Bookman Old Style" panose="02050604050505020204"/>
                <a:ea typeface="Bookman Old Style" panose="02050604050505020204"/>
                <a:cs typeface="Bookman Old Style" panose="02050604050505020204"/>
                <a:sym typeface="Bookman Old Style" panose="02050604050505020204"/>
              </a:rPr>
            </a:br>
            <a:br>
              <a:rPr lang="en-US" sz="2400" dirty="0">
                <a:latin typeface="Bookman Old Style" panose="02050604050505020204"/>
                <a:ea typeface="Bookman Old Style" panose="02050604050505020204"/>
                <a:cs typeface="Bookman Old Style" panose="02050604050505020204"/>
                <a:sym typeface="Bookman Old Style" panose="02050604050505020204"/>
              </a:rPr>
            </a:br>
            <a:r>
              <a:rPr lang="en-US" sz="2400" dirty="0">
                <a:latin typeface="Bookman Old Style" panose="02050604050505020204"/>
                <a:ea typeface="Bookman Old Style" panose="02050604050505020204"/>
                <a:cs typeface="Bookman Old Style" panose="02050604050505020204"/>
                <a:sym typeface="Bookman Old Style" panose="02050604050505020204"/>
              </a:rPr>
              <a:t>Subject : Computer Vision</a:t>
            </a:r>
            <a:endParaRPr sz="2400" dirty="0">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96" name="Google Shape;96;p13"/>
          <p:cNvSpPr txBox="1">
            <a:spLocks noGrp="1"/>
          </p:cNvSpPr>
          <p:nvPr>
            <p:ph type="subTitle" idx="1"/>
          </p:nvPr>
        </p:nvSpPr>
        <p:spPr>
          <a:xfrm>
            <a:off x="2009775" y="4191000"/>
            <a:ext cx="7839075" cy="2073274"/>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90000"/>
              </a:lnSpc>
              <a:spcBef>
                <a:spcPts val="0"/>
              </a:spcBef>
              <a:spcAft>
                <a:spcPts val="0"/>
              </a:spcAft>
              <a:buClr>
                <a:schemeClr val="dk1"/>
              </a:buClr>
              <a:buSzPct val="100000"/>
              <a:buNone/>
            </a:pPr>
            <a:endParaRPr dirty="0"/>
          </a:p>
          <a:p>
            <a:pPr marL="0" lvl="0" indent="0" algn="ctr" rtl="0">
              <a:lnSpc>
                <a:spcPct val="90000"/>
              </a:lnSpc>
              <a:spcBef>
                <a:spcPts val="1000"/>
              </a:spcBef>
              <a:spcAft>
                <a:spcPts val="0"/>
              </a:spcAft>
              <a:buClr>
                <a:schemeClr val="dk1"/>
              </a:buClr>
              <a:buSzPct val="100000"/>
              <a:buNone/>
            </a:pPr>
            <a:r>
              <a:rPr lang="en-US" sz="2300" dirty="0"/>
              <a:t>Guided by</a:t>
            </a:r>
            <a:endParaRPr sz="3100" dirty="0"/>
          </a:p>
          <a:p>
            <a:pPr marL="0" lvl="0" indent="0" algn="ctr" rtl="0">
              <a:lnSpc>
                <a:spcPct val="90000"/>
              </a:lnSpc>
              <a:spcBef>
                <a:spcPts val="1000"/>
              </a:spcBef>
              <a:spcAft>
                <a:spcPts val="0"/>
              </a:spcAft>
              <a:buClr>
                <a:schemeClr val="dk1"/>
              </a:buClr>
              <a:buSzPct val="100000"/>
              <a:buNone/>
            </a:pPr>
            <a:r>
              <a:rPr lang="en-US" sz="2600" b="1" dirty="0"/>
              <a:t>DR. Yogesh </a:t>
            </a:r>
            <a:r>
              <a:rPr lang="en-US" sz="2600" b="1" dirty="0" err="1"/>
              <a:t>Dandwate</a:t>
            </a:r>
            <a:r>
              <a:rPr lang="en-US" sz="2600" b="1" dirty="0"/>
              <a:t> Sir</a:t>
            </a:r>
            <a:endParaRPr dirty="0"/>
          </a:p>
          <a:p>
            <a:pPr marL="0" lvl="0" indent="0" algn="ctr" rtl="0">
              <a:lnSpc>
                <a:spcPct val="90000"/>
              </a:lnSpc>
              <a:spcBef>
                <a:spcPts val="1000"/>
              </a:spcBef>
              <a:spcAft>
                <a:spcPts val="0"/>
              </a:spcAft>
              <a:buClr>
                <a:schemeClr val="dk1"/>
              </a:buClr>
              <a:buSzPct val="100000"/>
              <a:buNone/>
            </a:pPr>
            <a:r>
              <a:rPr lang="en-US" sz="2300" dirty="0"/>
              <a:t>Department of Electronics and Telecommunications</a:t>
            </a:r>
            <a:endParaRPr dirty="0"/>
          </a:p>
          <a:p>
            <a:pPr marL="0" lvl="0" indent="0" algn="ctr" rtl="0">
              <a:lnSpc>
                <a:spcPct val="90000"/>
              </a:lnSpc>
              <a:spcBef>
                <a:spcPts val="1000"/>
              </a:spcBef>
              <a:spcAft>
                <a:spcPts val="0"/>
              </a:spcAft>
              <a:buClr>
                <a:schemeClr val="dk1"/>
              </a:buClr>
              <a:buSzPct val="100000"/>
              <a:buNone/>
            </a:pPr>
            <a:r>
              <a:rPr lang="en-US" sz="2300" dirty="0"/>
              <a:t>Vishwakarma Institute of Information Technology , Pune</a:t>
            </a:r>
            <a:r>
              <a:rPr lang="en-US" sz="2600" dirty="0"/>
              <a:t> </a:t>
            </a:r>
            <a:endParaRPr dirty="0"/>
          </a:p>
          <a:p>
            <a:pPr marL="0" lvl="0" indent="0" algn="ctr" rtl="0">
              <a:lnSpc>
                <a:spcPct val="90000"/>
              </a:lnSpc>
              <a:spcBef>
                <a:spcPts val="1000"/>
              </a:spcBef>
              <a:spcAft>
                <a:spcPts val="0"/>
              </a:spcAft>
              <a:buClr>
                <a:schemeClr val="dk1"/>
              </a:buClr>
              <a:buSzPct val="100000"/>
              <a:buNone/>
            </a:pPr>
            <a:endParaRPr dirty="0"/>
          </a:p>
        </p:txBody>
      </p:sp>
      <p:sp>
        <p:nvSpPr>
          <p:cNvPr id="97" name="Google Shape;97;p13"/>
          <p:cNvSpPr txBox="1">
            <a:spLocks noGrp="1"/>
          </p:cNvSpPr>
          <p:nvPr>
            <p:ph type="ftr" idx="11"/>
          </p:nvPr>
        </p:nvSpPr>
        <p:spPr>
          <a:xfrm>
            <a:off x="4038600" y="6356350"/>
            <a:ext cx="45720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98" name="Google Shape;9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9" name="Google Shape;99;p13"/>
          <p:cNvSpPr txBox="1"/>
          <p:nvPr/>
        </p:nvSpPr>
        <p:spPr>
          <a:xfrm>
            <a:off x="5638800" y="2923309"/>
            <a:ext cx="6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180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Georgia" panose="02040502050405020303"/>
              <a:buNone/>
            </a:pPr>
            <a:r>
              <a:rPr lang="en-US"/>
              <a:t>Outline</a:t>
            </a:r>
            <a:endParaRPr lang="en-US"/>
          </a:p>
        </p:txBody>
      </p:sp>
      <p:sp>
        <p:nvSpPr>
          <p:cNvPr id="105" name="Google Shape;105;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ct val="100000"/>
              <a:buChar char="•"/>
            </a:pPr>
            <a:r>
              <a:rPr lang="en-US" dirty="0"/>
              <a:t>Introduction</a:t>
            </a:r>
            <a:endParaRPr dirty="0"/>
          </a:p>
          <a:p>
            <a:pPr marL="0" lvl="0" indent="0" algn="just" rtl="0">
              <a:lnSpc>
                <a:spcPct val="90000"/>
              </a:lnSpc>
              <a:spcBef>
                <a:spcPts val="600"/>
              </a:spcBef>
              <a:spcAft>
                <a:spcPts val="0"/>
              </a:spcAft>
              <a:buClr>
                <a:srgbClr val="000000"/>
              </a:buClr>
              <a:buSzPct val="100000"/>
              <a:buChar char="•"/>
            </a:pPr>
            <a:r>
              <a:rPr lang="en-US" dirty="0">
                <a:solidFill>
                  <a:srgbClr val="000000"/>
                </a:solidFill>
              </a:rPr>
              <a:t>Motivation</a:t>
            </a:r>
            <a:endParaRPr dirty="0"/>
          </a:p>
          <a:p>
            <a:pPr marL="0" lvl="0" indent="0" algn="just" rtl="0">
              <a:lnSpc>
                <a:spcPct val="90000"/>
              </a:lnSpc>
              <a:spcBef>
                <a:spcPts val="600"/>
              </a:spcBef>
              <a:spcAft>
                <a:spcPts val="0"/>
              </a:spcAft>
              <a:buClr>
                <a:srgbClr val="000000"/>
              </a:buClr>
              <a:buSzPct val="100000"/>
              <a:buChar char="•"/>
            </a:pPr>
            <a:r>
              <a:rPr lang="en-US" dirty="0">
                <a:solidFill>
                  <a:srgbClr val="000000"/>
                </a:solidFill>
              </a:rPr>
              <a:t>Literature Survey</a:t>
            </a:r>
            <a:endParaRPr dirty="0"/>
          </a:p>
          <a:p>
            <a:pPr marL="0" lvl="0" indent="0" algn="just" rtl="0">
              <a:lnSpc>
                <a:spcPct val="90000"/>
              </a:lnSpc>
              <a:spcBef>
                <a:spcPts val="600"/>
              </a:spcBef>
              <a:spcAft>
                <a:spcPts val="0"/>
              </a:spcAft>
              <a:buClr>
                <a:srgbClr val="000000"/>
              </a:buClr>
              <a:buSzPct val="100000"/>
              <a:buChar char="•"/>
            </a:pPr>
            <a:r>
              <a:rPr lang="en-US" dirty="0">
                <a:solidFill>
                  <a:srgbClr val="000000"/>
                </a:solidFill>
              </a:rPr>
              <a:t>Objectives</a:t>
            </a:r>
            <a:endParaRPr dirty="0"/>
          </a:p>
          <a:p>
            <a:pPr marL="0" lvl="0" indent="0" algn="just" rtl="0">
              <a:lnSpc>
                <a:spcPct val="90000"/>
              </a:lnSpc>
              <a:spcBef>
                <a:spcPts val="600"/>
              </a:spcBef>
              <a:spcAft>
                <a:spcPts val="0"/>
              </a:spcAft>
              <a:buClr>
                <a:srgbClr val="000000"/>
              </a:buClr>
              <a:buSzPct val="100000"/>
              <a:buChar char="•"/>
            </a:pPr>
            <a:r>
              <a:rPr lang="en-US" dirty="0">
                <a:solidFill>
                  <a:srgbClr val="000000"/>
                </a:solidFill>
              </a:rPr>
              <a:t>Methodology</a:t>
            </a:r>
            <a:endParaRPr dirty="0"/>
          </a:p>
          <a:p>
            <a:pPr marL="0" lvl="0" indent="0" algn="just" rtl="0">
              <a:lnSpc>
                <a:spcPct val="90000"/>
              </a:lnSpc>
              <a:spcBef>
                <a:spcPts val="600"/>
              </a:spcBef>
              <a:spcAft>
                <a:spcPts val="0"/>
              </a:spcAft>
              <a:buClr>
                <a:srgbClr val="000000"/>
              </a:buClr>
              <a:buSzPct val="100000"/>
              <a:buChar char="•"/>
            </a:pPr>
            <a:r>
              <a:rPr lang="en-US" dirty="0">
                <a:solidFill>
                  <a:srgbClr val="000000"/>
                </a:solidFill>
              </a:rPr>
              <a:t>Dataset</a:t>
            </a:r>
            <a:endParaRPr dirty="0">
              <a:solidFill>
                <a:srgbClr val="000000"/>
              </a:solidFill>
            </a:endParaRPr>
          </a:p>
          <a:p>
            <a:pPr marL="0" lvl="0" indent="0" algn="just" rtl="0">
              <a:lnSpc>
                <a:spcPct val="90000"/>
              </a:lnSpc>
              <a:spcBef>
                <a:spcPts val="600"/>
              </a:spcBef>
              <a:spcAft>
                <a:spcPts val="0"/>
              </a:spcAft>
              <a:buClr>
                <a:srgbClr val="000000"/>
              </a:buClr>
              <a:buSzPct val="100000"/>
              <a:buChar char="•"/>
            </a:pPr>
            <a:r>
              <a:rPr lang="en-US" dirty="0">
                <a:solidFill>
                  <a:srgbClr val="000000"/>
                </a:solidFill>
              </a:rPr>
              <a:t>Implementation </a:t>
            </a:r>
            <a:endParaRPr dirty="0">
              <a:solidFill>
                <a:srgbClr val="000000"/>
              </a:solidFill>
            </a:endParaRPr>
          </a:p>
          <a:p>
            <a:pPr marL="0" lvl="0" indent="0" algn="just" rtl="0">
              <a:lnSpc>
                <a:spcPct val="90000"/>
              </a:lnSpc>
              <a:spcBef>
                <a:spcPts val="600"/>
              </a:spcBef>
              <a:spcAft>
                <a:spcPts val="0"/>
              </a:spcAft>
              <a:buClr>
                <a:srgbClr val="000000"/>
              </a:buClr>
              <a:buSzPct val="100000"/>
              <a:buChar char="•"/>
            </a:pPr>
            <a:r>
              <a:rPr lang="en-US" dirty="0">
                <a:solidFill>
                  <a:srgbClr val="000000"/>
                </a:solidFill>
              </a:rPr>
              <a:t>Results</a:t>
            </a:r>
            <a:endParaRPr lang="en-US" dirty="0">
              <a:solidFill>
                <a:srgbClr val="000000"/>
              </a:solidFill>
            </a:endParaRPr>
          </a:p>
          <a:p>
            <a:pPr marL="0" lvl="0" indent="0" algn="just" rtl="0">
              <a:lnSpc>
                <a:spcPct val="90000"/>
              </a:lnSpc>
              <a:spcBef>
                <a:spcPts val="600"/>
              </a:spcBef>
              <a:spcAft>
                <a:spcPts val="0"/>
              </a:spcAft>
              <a:buClr>
                <a:srgbClr val="000000"/>
              </a:buClr>
              <a:buSzPct val="100000"/>
              <a:buChar char="•"/>
            </a:pPr>
            <a:r>
              <a:rPr lang="en-US" dirty="0">
                <a:solidFill>
                  <a:srgbClr val="000000"/>
                </a:solidFill>
              </a:rPr>
              <a:t>Conclusions</a:t>
            </a:r>
            <a:endParaRPr dirty="0"/>
          </a:p>
          <a:p>
            <a:pPr marL="0" lvl="0" indent="0" algn="just" rtl="0">
              <a:lnSpc>
                <a:spcPct val="90000"/>
              </a:lnSpc>
              <a:spcBef>
                <a:spcPts val="600"/>
              </a:spcBef>
              <a:spcAft>
                <a:spcPts val="0"/>
              </a:spcAft>
              <a:buClr>
                <a:srgbClr val="000000"/>
              </a:buClr>
              <a:buSzPct val="100000"/>
              <a:buChar char="•"/>
            </a:pPr>
            <a:r>
              <a:rPr lang="en-US" dirty="0">
                <a:solidFill>
                  <a:srgbClr val="000000"/>
                </a:solidFill>
              </a:rPr>
              <a:t>References</a:t>
            </a:r>
            <a:endParaRPr dirty="0">
              <a:solidFill>
                <a:srgbClr val="000000"/>
              </a:solidFill>
            </a:endParaRPr>
          </a:p>
          <a:p>
            <a:pPr marL="228600" lvl="0" indent="-64135" algn="l" rtl="0">
              <a:lnSpc>
                <a:spcPct val="90000"/>
              </a:lnSpc>
              <a:spcBef>
                <a:spcPts val="1000"/>
              </a:spcBef>
              <a:spcAft>
                <a:spcPts val="0"/>
              </a:spcAft>
              <a:buClr>
                <a:schemeClr val="dk1"/>
              </a:buClr>
              <a:buSzPct val="100000"/>
              <a:buNone/>
            </a:pPr>
            <a:endParaRPr dirty="0"/>
          </a:p>
        </p:txBody>
      </p:sp>
      <p:sp>
        <p:nvSpPr>
          <p:cNvPr id="106" name="Google Shape;106;p14"/>
          <p:cNvSpPr txBox="1">
            <a:spLocks noGrp="1"/>
          </p:cNvSpPr>
          <p:nvPr>
            <p:ph type="ftr" idx="11"/>
          </p:nvPr>
        </p:nvSpPr>
        <p:spPr>
          <a:xfrm>
            <a:off x="4038600" y="6356350"/>
            <a:ext cx="45720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07" name="Google Shape;10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838200" y="1365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Georgia" panose="02040502050405020303"/>
              <a:buNone/>
            </a:pPr>
            <a:r>
              <a:rPr lang="en-US" dirty="0"/>
              <a:t>Introduction</a:t>
            </a:r>
            <a:endParaRPr lang="en-US" dirty="0"/>
          </a:p>
        </p:txBody>
      </p:sp>
      <p:sp>
        <p:nvSpPr>
          <p:cNvPr id="113" name="Google Shape;113;p15"/>
          <p:cNvSpPr txBox="1">
            <a:spLocks noGrp="1"/>
          </p:cNvSpPr>
          <p:nvPr>
            <p:ph type="body" idx="1"/>
          </p:nvPr>
        </p:nvSpPr>
        <p:spPr>
          <a:xfrm>
            <a:off x="36214" y="1458388"/>
            <a:ext cx="8164510" cy="5263087"/>
          </a:xfrm>
          <a:prstGeom prst="rect">
            <a:avLst/>
          </a:prstGeom>
          <a:noFill/>
          <a:ln>
            <a:noFill/>
          </a:ln>
        </p:spPr>
        <p:txBody>
          <a:bodyPr spcFirstLastPara="1" wrap="square" lIns="91425" tIns="45700" rIns="91425" bIns="45700" anchor="t" anchorCtr="0">
            <a:normAutofit fontScale="92500" lnSpcReduction="10000"/>
          </a:bodyPr>
          <a:lstStyle/>
          <a:p>
            <a:pPr marL="342900">
              <a:lnSpc>
                <a:spcPct val="120000"/>
              </a:lnSpc>
              <a:spcBef>
                <a:spcPts val="0"/>
              </a:spcBef>
              <a:buSzPts val="2800"/>
            </a:pPr>
            <a:r>
              <a:rPr lang="en-US" sz="2100" b="1" dirty="0"/>
              <a:t>Innovative Fusion of AI and Computer Vision: </a:t>
            </a:r>
            <a:r>
              <a:rPr lang="en-US" sz="2100" dirty="0"/>
              <a:t>This project represents a pioneering fusion of artificial intelligence and computer vision, focusing on implementing a Face Recognition System using Siamese Networks.</a:t>
            </a:r>
            <a:endParaRPr lang="en-US" sz="2100" dirty="0"/>
          </a:p>
          <a:p>
            <a:pPr marL="228600" indent="-228600">
              <a:lnSpc>
                <a:spcPct val="120000"/>
              </a:lnSpc>
              <a:buSzPts val="2800"/>
            </a:pPr>
            <a:r>
              <a:rPr lang="en-US" sz="2100" b="1" dirty="0"/>
              <a:t>Revolutionizing Face Recognition Accuracy: </a:t>
            </a:r>
            <a:r>
              <a:rPr lang="en-US" sz="2100" dirty="0"/>
              <a:t>Leveraging deep learning algorithms, our system aims to significantly improve face recognition accuracy compared to traditional methods.</a:t>
            </a:r>
            <a:endParaRPr lang="en-US" sz="2100" dirty="0"/>
          </a:p>
          <a:p>
            <a:pPr marL="228600" indent="-228600">
              <a:lnSpc>
                <a:spcPct val="120000"/>
              </a:lnSpc>
              <a:buSzPts val="2800"/>
            </a:pPr>
            <a:r>
              <a:rPr lang="en-US" sz="2100" b="1" dirty="0"/>
              <a:t>Versatility in Challenging Conditions: </a:t>
            </a:r>
            <a:r>
              <a:rPr lang="en-US" sz="2100" dirty="0"/>
              <a:t>The system is designed to work efficiently in various real-world scenarios, handling challenges such as lighting variations, facial expressions, and partial occlusions.</a:t>
            </a:r>
            <a:endParaRPr lang="en-US" sz="2100" dirty="0"/>
          </a:p>
          <a:p>
            <a:pPr marL="228600" indent="-228600">
              <a:lnSpc>
                <a:spcPct val="120000"/>
              </a:lnSpc>
              <a:buSzPts val="2800"/>
            </a:pPr>
            <a:r>
              <a:rPr lang="en-US" sz="2100" b="1" dirty="0"/>
              <a:t>Advanced Data Management: </a:t>
            </a:r>
            <a:r>
              <a:rPr lang="en-US" sz="2100" dirty="0"/>
              <a:t>To ensure efficient data processing and storage, our solution integrates with reliable data management systems, making it suitable for both small-scale and large-scale applications.</a:t>
            </a:r>
            <a:endParaRPr lang="en-US" sz="2100" dirty="0"/>
          </a:p>
          <a:p>
            <a:pPr marL="228600" indent="-228600">
              <a:lnSpc>
                <a:spcPct val="120000"/>
              </a:lnSpc>
              <a:buSzPts val="2800"/>
            </a:pPr>
            <a:endParaRPr lang="en-US" sz="2300" dirty="0"/>
          </a:p>
          <a:p>
            <a:pPr marL="228600" lvl="0" indent="-228600" algn="l" rtl="0">
              <a:lnSpc>
                <a:spcPct val="120000"/>
              </a:lnSpc>
              <a:spcBef>
                <a:spcPts val="1000"/>
              </a:spcBef>
              <a:spcAft>
                <a:spcPts val="0"/>
              </a:spcAft>
              <a:buClr>
                <a:schemeClr val="dk1"/>
              </a:buClr>
              <a:buSzPts val="2800"/>
              <a:buChar char="•"/>
            </a:pPr>
            <a:endParaRPr lang="en-US" sz="1900" dirty="0"/>
          </a:p>
          <a:p>
            <a:pPr marL="228600" lvl="0" indent="-228600" algn="l" rtl="0">
              <a:lnSpc>
                <a:spcPct val="90000"/>
              </a:lnSpc>
              <a:spcBef>
                <a:spcPts val="1000"/>
              </a:spcBef>
              <a:spcAft>
                <a:spcPts val="0"/>
              </a:spcAft>
              <a:buClr>
                <a:schemeClr val="dk1"/>
              </a:buClr>
              <a:buSzPts val="2800"/>
              <a:buChar char="•"/>
            </a:pPr>
            <a:endParaRPr lang="en-US" sz="1800" dirty="0"/>
          </a:p>
          <a:p>
            <a:pPr marL="0" lvl="0" indent="0" algn="l" rtl="0">
              <a:lnSpc>
                <a:spcPct val="90000"/>
              </a:lnSpc>
              <a:spcBef>
                <a:spcPts val="1000"/>
              </a:spcBef>
              <a:spcAft>
                <a:spcPts val="0"/>
              </a:spcAft>
              <a:buClr>
                <a:schemeClr val="dk1"/>
              </a:buClr>
              <a:buSzPts val="2800"/>
              <a:buNone/>
            </a:pPr>
            <a:endParaRPr lang="en-US" dirty="0"/>
          </a:p>
        </p:txBody>
      </p:sp>
      <p:sp>
        <p:nvSpPr>
          <p:cNvPr id="114" name="Google Shape;114;p15"/>
          <p:cNvSpPr txBox="1">
            <a:spLocks noGrp="1"/>
          </p:cNvSpPr>
          <p:nvPr>
            <p:ph type="ftr" idx="11"/>
          </p:nvPr>
        </p:nvSpPr>
        <p:spPr>
          <a:xfrm>
            <a:off x="3718085" y="6356350"/>
            <a:ext cx="483202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15" name="Google Shape;11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fld>
            <a:endParaRPr lang="en-US"/>
          </a:p>
        </p:txBody>
      </p:sp>
      <p:pic>
        <p:nvPicPr>
          <p:cNvPr id="4" name="Google Shape;122;p3"/>
          <p:cNvPicPr preferRelativeResize="0"/>
          <p:nvPr/>
        </p:nvPicPr>
        <p:blipFill>
          <a:blip r:embed="rId1"/>
          <a:stretch>
            <a:fillRect/>
          </a:stretch>
        </p:blipFill>
        <p:spPr>
          <a:xfrm>
            <a:off x="8200724" y="1916910"/>
            <a:ext cx="3850105" cy="398461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Georgia" panose="02040502050405020303"/>
              <a:buNone/>
            </a:pPr>
            <a:r>
              <a:rPr lang="en-US"/>
              <a:t>Motivation</a:t>
            </a:r>
            <a:endParaRPr lang="en-US"/>
          </a:p>
        </p:txBody>
      </p:sp>
      <p:sp>
        <p:nvSpPr>
          <p:cNvPr id="121" name="Google Shape;1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85750" indent="-285750">
              <a:lnSpc>
                <a:spcPct val="120000"/>
              </a:lnSpc>
              <a:spcBef>
                <a:spcPts val="0"/>
              </a:spcBef>
              <a:buSzPts val="2800"/>
            </a:pPr>
            <a:r>
              <a:rPr lang="en-US" sz="1800" b="1" dirty="0"/>
              <a:t>Accurate Face Recognition: </a:t>
            </a:r>
            <a:r>
              <a:rPr lang="en-US" sz="1800" dirty="0"/>
              <a:t>To enhance the accuracy of face recognition systems using Siamese networks, overcoming the limitations of traditional methods.</a:t>
            </a:r>
            <a:endParaRPr lang="en-US" sz="1800" dirty="0"/>
          </a:p>
          <a:p>
            <a:pPr marL="285750" indent="-285750">
              <a:lnSpc>
                <a:spcPct val="120000"/>
              </a:lnSpc>
              <a:spcBef>
                <a:spcPts val="0"/>
              </a:spcBef>
              <a:buSzPts val="2800"/>
            </a:pPr>
            <a:r>
              <a:rPr lang="en-US" sz="1800" b="1" dirty="0"/>
              <a:t>Touchless and Efficient Identification: </a:t>
            </a:r>
            <a:r>
              <a:rPr lang="en-US" sz="1800" dirty="0"/>
              <a:t>To develop a system that offers a safe, touchless, and convenient way of recognizing faces, especially in environments where contactless interaction is crucial.</a:t>
            </a:r>
            <a:endParaRPr lang="en-US" sz="1800" dirty="0"/>
          </a:p>
          <a:p>
            <a:pPr marL="285750" indent="-285750">
              <a:lnSpc>
                <a:spcPct val="120000"/>
              </a:lnSpc>
              <a:spcBef>
                <a:spcPts val="0"/>
              </a:spcBef>
              <a:buSzPts val="2800"/>
            </a:pPr>
            <a:r>
              <a:rPr lang="en-US" sz="1800" b="1" dirty="0"/>
              <a:t>Scalability and Adaptability: </a:t>
            </a:r>
            <a:r>
              <a:rPr lang="en-US" sz="1800" dirty="0"/>
              <a:t>To create a solution that can be scaled to different use cases, including small groups and large organizations.</a:t>
            </a:r>
            <a:endParaRPr lang="en-US" sz="1800" dirty="0"/>
          </a:p>
          <a:p>
            <a:pPr marL="285750" indent="-285750">
              <a:lnSpc>
                <a:spcPct val="120000"/>
              </a:lnSpc>
              <a:spcBef>
                <a:spcPts val="0"/>
              </a:spcBef>
              <a:buSzPts val="2800"/>
            </a:pPr>
            <a:r>
              <a:rPr lang="en-US" sz="1800" b="1" dirty="0"/>
              <a:t>Privacy and Data Security: </a:t>
            </a:r>
            <a:r>
              <a:rPr lang="en-US" sz="1800" dirty="0"/>
              <a:t>To ensure the system adheres to data privacy regulations, maintaining user confidence and security.</a:t>
            </a:r>
            <a:endParaRPr lang="en-US" sz="1800" dirty="0"/>
          </a:p>
        </p:txBody>
      </p:sp>
      <p:sp>
        <p:nvSpPr>
          <p:cNvPr id="122" name="Google Shape;122;p16"/>
          <p:cNvSpPr txBox="1">
            <a:spLocks noGrp="1"/>
          </p:cNvSpPr>
          <p:nvPr>
            <p:ph type="ftr" idx="11"/>
          </p:nvPr>
        </p:nvSpPr>
        <p:spPr>
          <a:xfrm>
            <a:off x="3501272" y="6356350"/>
            <a:ext cx="45720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23" name="Google Shape;12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0000"/>
              </a:buClr>
              <a:buSzPct val="90000"/>
              <a:buFont typeface="Georgia" panose="02040502050405020303"/>
              <a:buNone/>
            </a:pPr>
            <a:br>
              <a:rPr lang="en-US" dirty="0">
                <a:solidFill>
                  <a:srgbClr val="000000"/>
                </a:solidFill>
              </a:rPr>
            </a:br>
            <a:r>
              <a:rPr lang="en-US" sz="4900" dirty="0">
                <a:solidFill>
                  <a:srgbClr val="000000"/>
                </a:solidFill>
              </a:rPr>
              <a:t>Literature Survey</a:t>
            </a:r>
            <a:br>
              <a:rPr lang="en-US" sz="4900" dirty="0">
                <a:solidFill>
                  <a:srgbClr val="000000"/>
                </a:solidFill>
              </a:rPr>
            </a:br>
            <a:endParaRPr lang="en-US" sz="4900" dirty="0"/>
          </a:p>
        </p:txBody>
      </p:sp>
      <p:sp>
        <p:nvSpPr>
          <p:cNvPr id="130" name="Google Shape;130;p17"/>
          <p:cNvSpPr txBox="1">
            <a:spLocks noGrp="1"/>
          </p:cNvSpPr>
          <p:nvPr>
            <p:ph type="ftr" idx="11"/>
          </p:nvPr>
        </p:nvSpPr>
        <p:spPr>
          <a:xfrm>
            <a:off x="3506771" y="6356350"/>
            <a:ext cx="46466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31" name="Google Shape;13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graphicFrame>
        <p:nvGraphicFramePr>
          <p:cNvPr id="3" name="Table 2"/>
          <p:cNvGraphicFramePr>
            <a:graphicFrameLocks noGrp="1"/>
          </p:cNvGraphicFramePr>
          <p:nvPr/>
        </p:nvGraphicFramePr>
        <p:xfrm>
          <a:off x="838200" y="1459865"/>
          <a:ext cx="10287000" cy="4785210"/>
        </p:xfrm>
        <a:graphic>
          <a:graphicData uri="http://schemas.openxmlformats.org/drawingml/2006/table">
            <a:tbl>
              <a:tblPr>
                <a:tableStyleId>{69C7853C-536D-4A76-A0AE-DD22124D55A5}</a:tableStyleId>
              </a:tblPr>
              <a:tblGrid>
                <a:gridCol w="2868025"/>
                <a:gridCol w="7418975"/>
              </a:tblGrid>
              <a:tr h="3810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dirty="0">
                          <a:solidFill>
                            <a:srgbClr val="000000"/>
                          </a:solidFill>
                          <a:sym typeface="Bookman Old Style" panose="02050604050505020204"/>
                        </a:rPr>
                        <a:t>Reference </a:t>
                      </a:r>
                      <a:endParaRPr sz="1400" u="none" strike="noStrike" cap="none" dirty="0">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solidFill>
                            <a:srgbClr val="000000"/>
                          </a:solidFill>
                          <a:sym typeface="Bookman Old Style" panose="02050604050505020204"/>
                        </a:rPr>
                        <a:t>Summary</a:t>
                      </a:r>
                      <a:endParaRPr sz="1400" u="none" strike="noStrike" cap="none">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550"/>
                        <a:buFont typeface="Arial" panose="020B0604020202020204"/>
                        <a:buNone/>
                      </a:pPr>
                      <a:r>
                        <a:rPr lang="en-US" sz="1500">
                          <a:sym typeface="Bookman Old Style" panose="02050604050505020204"/>
                        </a:rPr>
                        <a:t>Gregory Koch.,Department of Computer Science, University of Toronto[1]</a:t>
                      </a:r>
                      <a:endParaRPr sz="1500" u="none" strike="noStrike" cap="none">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50"/>
                        <a:buFont typeface="Arial" panose="020B0604020202020204"/>
                        <a:buNone/>
                      </a:pPr>
                      <a:r>
                        <a:rPr lang="en-US" sz="1500">
                          <a:sym typeface="Bookman Old Style" panose="02050604050505020204"/>
                        </a:rPr>
                        <a:t>Investigates Siamese neural networks for image recognition in one-shot learning scenarios. Utilizes CNN architectures to extract discriminative features, achieving near state-of-the-art accuracy in classification tasks, highlighting a potential avenue for future research.</a:t>
                      </a:r>
                      <a:endParaRPr sz="1500" u="none" strike="noStrike" cap="none">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550"/>
                        <a:buFont typeface="Arial" panose="020B0604020202020204"/>
                        <a:buNone/>
                      </a:pPr>
                      <a:r>
                        <a:rPr lang="en-US" sz="1500">
                          <a:sym typeface="Bookman Old Style" panose="02050604050505020204"/>
                        </a:rPr>
                        <a:t>Waquar ahmad.,International Journal of Computer Science Issues[2]</a:t>
                      </a:r>
                      <a:endParaRPr sz="1500" u="none" strike="noStrike" cap="none">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50"/>
                        <a:buFont typeface="Arial" panose="020B0604020202020204"/>
                        <a:buNone/>
                      </a:pPr>
                      <a:r>
                        <a:rPr lang="en-US" sz="1500" dirty="0">
                          <a:sym typeface="Bookman Old Style" panose="02050604050505020204"/>
                        </a:rPr>
                        <a:t>Proposes a face recognition-based attendance system using classroom cameras for automatic attendance marking, addressing the limitations of manual methods and the shortcomings of existing automated approaches.</a:t>
                      </a:r>
                      <a:endParaRPr sz="1500" u="none" strike="noStrike" cap="none" dirty="0">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r>
              <a:tr h="381000">
                <a:tc>
                  <a:txBody>
                    <a:bodyPr/>
                    <a:lstStyle/>
                    <a:p>
                      <a:pPr marL="0" lvl="0" indent="0" algn="l" rtl="0">
                        <a:spcBef>
                          <a:spcPts val="0"/>
                        </a:spcBef>
                        <a:spcAft>
                          <a:spcPts val="0"/>
                        </a:spcAft>
                        <a:buClr>
                          <a:schemeClr val="dk1"/>
                        </a:buClr>
                        <a:buSzPts val="1100"/>
                        <a:buFont typeface="Arial" panose="020B0604020202020204"/>
                        <a:buNone/>
                      </a:pPr>
                      <a:r>
                        <a:rPr lang="en-US" sz="1500" dirty="0">
                          <a:sym typeface="Bookman Old Style" panose="02050604050505020204"/>
                        </a:rPr>
                        <a:t>Yaniv </a:t>
                      </a:r>
                      <a:r>
                        <a:rPr lang="en-US" sz="1500" dirty="0" err="1">
                          <a:sym typeface="Bookman Old Style" panose="02050604050505020204"/>
                        </a:rPr>
                        <a:t>Taigman</a:t>
                      </a:r>
                      <a:r>
                        <a:rPr lang="en-US" sz="1500" dirty="0">
                          <a:sym typeface="Bookman Old Style" panose="02050604050505020204"/>
                        </a:rPr>
                        <a:t>., Facebook AI Research, Menlo Park, CA, USA[3]</a:t>
                      </a:r>
                      <a:endParaRPr sz="1500" u="none" strike="noStrike" cap="none" dirty="0">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50"/>
                        <a:buFont typeface="Arial" panose="020B0604020202020204"/>
                        <a:buNone/>
                      </a:pPr>
                      <a:r>
                        <a:rPr lang="en-US" sz="1500">
                          <a:sym typeface="Bookman Old Style" panose="02050604050505020204"/>
                        </a:rPr>
                        <a:t>Examines the network's bottleneck layer as a crucial regularizer, identifying a performance saturation point with increased training data. Explores representation layer vulnerabilities and their link to uncertainty in the presence of distortions. Compares academic and commercial face recognition systems, suggesting broader implications for large-scale learning tasks beyond face recognition.</a:t>
                      </a:r>
                      <a:endParaRPr sz="1500" u="none" strike="noStrike" cap="none">
                        <a:solidFill>
                          <a:srgbClr val="000000"/>
                        </a:solidFill>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r>
              <a:tr h="954675">
                <a:tc>
                  <a:txBody>
                    <a:bodyPr/>
                    <a:lstStyle/>
                    <a:p>
                      <a:pPr marL="0" marR="0" lvl="0" indent="0" algn="l" rtl="0">
                        <a:lnSpc>
                          <a:spcPct val="100000"/>
                        </a:lnSpc>
                        <a:spcBef>
                          <a:spcPts val="0"/>
                        </a:spcBef>
                        <a:spcAft>
                          <a:spcPts val="0"/>
                        </a:spcAft>
                        <a:buClr>
                          <a:srgbClr val="000000"/>
                        </a:buClr>
                        <a:buSzPts val="1050"/>
                        <a:buFont typeface="Arial" panose="020B0604020202020204"/>
                        <a:buNone/>
                      </a:pPr>
                      <a:br>
                        <a:rPr lang="en-US" sz="1500">
                          <a:sym typeface="Bookman Old Style" panose="02050604050505020204"/>
                        </a:rPr>
                      </a:br>
                      <a:r>
                        <a:rPr lang="en-US" sz="1500">
                          <a:sym typeface="Bookman Old Style" panose="02050604050505020204"/>
                        </a:rPr>
                        <a:t>Florian Schroff., Google Inc.[4]</a:t>
                      </a:r>
                      <a:endParaRPr sz="1500">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50"/>
                        <a:buFont typeface="Arial" panose="020B0604020202020204"/>
                        <a:buNone/>
                      </a:pPr>
                      <a:r>
                        <a:rPr lang="en-US" sz="1500" dirty="0">
                          <a:sym typeface="Bookman Old Style" panose="02050604050505020204"/>
                        </a:rPr>
                        <a:t>Introduces Face Net for efficient face verification and recognition by learning a mapping to a compact Euclidean space. Utilizes deep convolutional networks to optimize embeddings directly, achieving exceptional accuracy on benchmark datasets. </a:t>
                      </a:r>
                      <a:endParaRPr sz="1500" dirty="0">
                        <a:latin typeface="Bookman Old Style" panose="02050604050505020204"/>
                        <a:ea typeface="Bookman Old Style" panose="02050604050505020204"/>
                        <a:cs typeface="Bookman Old Style" panose="02050604050505020204"/>
                        <a:sym typeface="Bookman Old Style" panose="02050604050505020204"/>
                      </a:endParaRPr>
                    </a:p>
                  </a:txBody>
                  <a:tcPr marL="91425" marR="91425" marT="91425" marB="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0000"/>
              </a:buClr>
              <a:buSzPct val="100000"/>
              <a:buFont typeface="Georgia" panose="02040502050405020303"/>
              <a:buNone/>
            </a:pPr>
            <a:br>
              <a:rPr lang="en-US" dirty="0">
                <a:solidFill>
                  <a:srgbClr val="000000"/>
                </a:solidFill>
              </a:rPr>
            </a:br>
            <a:r>
              <a:rPr lang="en-US" dirty="0">
                <a:solidFill>
                  <a:srgbClr val="000000"/>
                </a:solidFill>
              </a:rPr>
              <a:t>Objectives or</a:t>
            </a:r>
            <a:br>
              <a:rPr lang="en-US" dirty="0">
                <a:solidFill>
                  <a:srgbClr val="000000"/>
                </a:solidFill>
              </a:rPr>
            </a:br>
            <a:r>
              <a:rPr lang="en-US" dirty="0">
                <a:solidFill>
                  <a:srgbClr val="000000"/>
                </a:solidFill>
              </a:rPr>
              <a:t>Aim and Objectives</a:t>
            </a:r>
            <a:br>
              <a:rPr lang="en-US" dirty="0">
                <a:solidFill>
                  <a:srgbClr val="000000"/>
                </a:solidFill>
              </a:rPr>
            </a:br>
            <a:endParaRPr dirty="0"/>
          </a:p>
        </p:txBody>
      </p:sp>
      <p:sp>
        <p:nvSpPr>
          <p:cNvPr id="137" name="Google Shape;137;p18"/>
          <p:cNvSpPr txBox="1">
            <a:spLocks noGrp="1"/>
          </p:cNvSpPr>
          <p:nvPr>
            <p:ph type="body" idx="1"/>
          </p:nvPr>
        </p:nvSpPr>
        <p:spPr>
          <a:xfrm>
            <a:off x="838200" y="1847850"/>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just" rtl="0">
              <a:lnSpc>
                <a:spcPct val="90000"/>
              </a:lnSpc>
              <a:spcBef>
                <a:spcPts val="0"/>
              </a:spcBef>
              <a:spcAft>
                <a:spcPts val="0"/>
              </a:spcAft>
              <a:buClr>
                <a:schemeClr val="dk1"/>
              </a:buClr>
              <a:buSzPts val="2800"/>
              <a:buChar char="•"/>
            </a:pPr>
            <a:r>
              <a:rPr lang="en-US" sz="2000" b="1" dirty="0"/>
              <a:t>Aim</a:t>
            </a:r>
            <a:r>
              <a:rPr lang="en-US" sz="2000" dirty="0"/>
              <a:t> – To develop a robust and scalable face recognition system using Siamese networks that accurately identifies individuals while maintaining data security and user privacy.</a:t>
            </a:r>
            <a:endParaRPr dirty="0"/>
          </a:p>
          <a:p>
            <a:pPr marL="228600" lvl="0" indent="-228600" algn="just" rtl="0">
              <a:lnSpc>
                <a:spcPct val="90000"/>
              </a:lnSpc>
              <a:spcBef>
                <a:spcPts val="1000"/>
              </a:spcBef>
              <a:spcAft>
                <a:spcPts val="0"/>
              </a:spcAft>
              <a:buClr>
                <a:schemeClr val="dk1"/>
              </a:buClr>
              <a:buSzPts val="2800"/>
              <a:buChar char="•"/>
            </a:pPr>
            <a:r>
              <a:rPr lang="en-US" sz="2000" b="1" dirty="0"/>
              <a:t>Objectives</a:t>
            </a:r>
            <a:r>
              <a:rPr lang="en-US" sz="2000" dirty="0"/>
              <a:t> – </a:t>
            </a:r>
            <a:endParaRPr lang="en-US" sz="2000" dirty="0"/>
          </a:p>
          <a:p>
            <a:pPr marL="685800" lvl="1" indent="-228600" algn="just">
              <a:spcBef>
                <a:spcPts val="1000"/>
              </a:spcBef>
              <a:buSzPts val="2800"/>
            </a:pPr>
            <a:r>
              <a:rPr lang="en-US" sz="2100" b="1" dirty="0"/>
              <a:t>Accuracy Improvement: </a:t>
            </a:r>
            <a:r>
              <a:rPr lang="en-US" sz="2100" dirty="0"/>
              <a:t>Implement Siamese networks to increase face recognition precision, reducing false positives and </a:t>
            </a:r>
            <a:r>
              <a:rPr lang="en-US" sz="2100" dirty="0" err="1"/>
              <a:t>negatives.Train</a:t>
            </a:r>
            <a:r>
              <a:rPr lang="en-US" sz="2100" dirty="0"/>
              <a:t> the system on diverse datasets to improve performance under varying conditions (lighting, expressions, etc.).</a:t>
            </a:r>
            <a:endParaRPr lang="en-US" sz="2100" dirty="0"/>
          </a:p>
          <a:p>
            <a:pPr marL="685800" lvl="1" indent="-228600" algn="just">
              <a:spcBef>
                <a:spcPts val="1000"/>
              </a:spcBef>
              <a:buSzPts val="2800"/>
            </a:pPr>
            <a:r>
              <a:rPr lang="en-US" sz="2100" b="1" dirty="0"/>
              <a:t>Seamless Integration: </a:t>
            </a:r>
            <a:r>
              <a:rPr lang="en-US" sz="2100" dirty="0"/>
              <a:t>Combine deep learning algorithms with computer vision techniques to build a reliable and efficient recognition </a:t>
            </a:r>
            <a:r>
              <a:rPr lang="en-US" sz="2100" dirty="0" err="1"/>
              <a:t>system.Integrate</a:t>
            </a:r>
            <a:r>
              <a:rPr lang="en-US" sz="2100" dirty="0"/>
              <a:t> real-time face recognition capabilities suitable for real-world applications.</a:t>
            </a:r>
            <a:endParaRPr lang="en-US" sz="2100" dirty="0"/>
          </a:p>
          <a:p>
            <a:pPr marL="685800" lvl="1" indent="-228600" algn="just">
              <a:spcBef>
                <a:spcPts val="1000"/>
              </a:spcBef>
              <a:buSzPts val="2800"/>
            </a:pPr>
            <a:r>
              <a:rPr lang="en-US" sz="2100" b="1" dirty="0"/>
              <a:t>System Scalability: </a:t>
            </a:r>
            <a:r>
              <a:rPr lang="en-US" sz="2100" dirty="0"/>
              <a:t>Ensure the model can adapt to various scales, from small user groups to large </a:t>
            </a:r>
            <a:r>
              <a:rPr lang="en-US" sz="2100" dirty="0" err="1"/>
              <a:t>databases.Optimize</a:t>
            </a:r>
            <a:r>
              <a:rPr lang="en-US" sz="2100" dirty="0"/>
              <a:t> computational efficiency to facilitate rapid recognition, even with extensive datasets.</a:t>
            </a:r>
            <a:endParaRPr lang="en-US" sz="2100" dirty="0"/>
          </a:p>
          <a:p>
            <a:pPr marL="685800" lvl="1" indent="-228600" algn="just">
              <a:spcBef>
                <a:spcPts val="1000"/>
              </a:spcBef>
              <a:buSzPts val="2800"/>
            </a:pPr>
            <a:r>
              <a:rPr lang="en-US" sz="2100" b="1" dirty="0"/>
              <a:t>Data Privacy and Compliance: </a:t>
            </a:r>
            <a:r>
              <a:rPr lang="en-US" sz="2100" dirty="0"/>
              <a:t>Implement secure data handling protocols to protect sensitive user </a:t>
            </a:r>
            <a:r>
              <a:rPr lang="en-US" sz="2100" dirty="0" err="1"/>
              <a:t>information.Follow</a:t>
            </a:r>
            <a:r>
              <a:rPr lang="en-US" sz="2100" dirty="0"/>
              <a:t> data privacy guidelines to build a system that users can trust.</a:t>
            </a:r>
            <a:endParaRPr lang="en-US" sz="2100" dirty="0"/>
          </a:p>
          <a:p>
            <a:pPr marL="685800" lvl="1" indent="-228600" algn="just">
              <a:spcBef>
                <a:spcPts val="1000"/>
              </a:spcBef>
              <a:buSzPts val="2800"/>
            </a:pPr>
            <a:r>
              <a:rPr lang="en-US" sz="2100" b="1" dirty="0"/>
              <a:t>Real-World Usability: </a:t>
            </a:r>
            <a:r>
              <a:rPr lang="en-US" sz="2100" dirty="0"/>
              <a:t>Design a user-friendly interface for ease of use across different </a:t>
            </a:r>
            <a:r>
              <a:rPr lang="en-US" sz="2100" dirty="0" err="1"/>
              <a:t>applications.Test</a:t>
            </a:r>
            <a:r>
              <a:rPr lang="en-US" sz="2100" dirty="0"/>
              <a:t> the system in real-world scenarios to validate its robustness and efficiency.</a:t>
            </a:r>
            <a:endParaRPr lang="en-US" sz="2100" dirty="0"/>
          </a:p>
        </p:txBody>
      </p:sp>
      <p:sp>
        <p:nvSpPr>
          <p:cNvPr id="138" name="Google Shape;138;p18"/>
          <p:cNvSpPr txBox="1">
            <a:spLocks noGrp="1"/>
          </p:cNvSpPr>
          <p:nvPr>
            <p:ph type="ftr" idx="11"/>
          </p:nvPr>
        </p:nvSpPr>
        <p:spPr>
          <a:xfrm>
            <a:off x="3497344" y="6356350"/>
            <a:ext cx="4656056"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39" name="Google Shape;1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838199" y="365125"/>
            <a:ext cx="1119982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Georgia" panose="02040502050405020303"/>
              <a:buNone/>
            </a:pPr>
            <a:r>
              <a:rPr lang="en-US" dirty="0">
                <a:solidFill>
                  <a:srgbClr val="000000"/>
                </a:solidFill>
              </a:rPr>
              <a:t>Block Diagram</a:t>
            </a:r>
            <a:br>
              <a:rPr lang="en-US" dirty="0">
                <a:solidFill>
                  <a:srgbClr val="000000"/>
                </a:solidFill>
              </a:rPr>
            </a:br>
            <a:endParaRPr dirty="0"/>
          </a:p>
        </p:txBody>
      </p:sp>
      <p:sp>
        <p:nvSpPr>
          <p:cNvPr id="146" name="Google Shape;146;p19"/>
          <p:cNvSpPr txBox="1">
            <a:spLocks noGrp="1"/>
          </p:cNvSpPr>
          <p:nvPr>
            <p:ph type="ftr" idx="11"/>
          </p:nvPr>
        </p:nvSpPr>
        <p:spPr>
          <a:xfrm>
            <a:off x="3506771" y="6356350"/>
            <a:ext cx="46466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47" name="Google Shape;1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Picture 1" descr="Untitled Diagram.drawio"/>
          <p:cNvPicPr>
            <a:picLocks noChangeAspect="1"/>
          </p:cNvPicPr>
          <p:nvPr/>
        </p:nvPicPr>
        <p:blipFill>
          <a:blip r:embed="rId1"/>
          <a:stretch>
            <a:fillRect/>
          </a:stretch>
        </p:blipFill>
        <p:spPr>
          <a:xfrm>
            <a:off x="1547495" y="1806575"/>
            <a:ext cx="8681720" cy="36023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838199" y="365125"/>
            <a:ext cx="11199829"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0000"/>
              </a:buClr>
              <a:buSzPts val="4400"/>
              <a:buFont typeface="Georgia" panose="02040502050405020303"/>
              <a:buNone/>
            </a:pPr>
            <a:r>
              <a:rPr lang="en-US" dirty="0">
                <a:solidFill>
                  <a:srgbClr val="000000"/>
                </a:solidFill>
              </a:rPr>
              <a:t>Methodology</a:t>
            </a:r>
            <a:br>
              <a:rPr lang="en-US" dirty="0">
                <a:solidFill>
                  <a:srgbClr val="000000"/>
                </a:solidFill>
              </a:rPr>
            </a:br>
            <a:endParaRPr dirty="0"/>
          </a:p>
        </p:txBody>
      </p:sp>
      <p:sp>
        <p:nvSpPr>
          <p:cNvPr id="146" name="Google Shape;146;p19"/>
          <p:cNvSpPr txBox="1">
            <a:spLocks noGrp="1"/>
          </p:cNvSpPr>
          <p:nvPr>
            <p:ph type="ftr" idx="11"/>
          </p:nvPr>
        </p:nvSpPr>
        <p:spPr>
          <a:xfrm>
            <a:off x="3506771" y="6356350"/>
            <a:ext cx="46466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47" name="Google Shape;1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 name="TextBox 10"/>
          <p:cNvSpPr txBox="1"/>
          <p:nvPr/>
        </p:nvSpPr>
        <p:spPr>
          <a:xfrm>
            <a:off x="3046427" y="5959044"/>
            <a:ext cx="6096000" cy="307777"/>
          </a:xfrm>
          <a:prstGeom prst="rect">
            <a:avLst/>
          </a:prstGeom>
          <a:noFill/>
        </p:spPr>
        <p:txBody>
          <a:bodyPr wrap="square">
            <a:spAutoFit/>
          </a:bodyPr>
          <a:lstStyle/>
          <a:p>
            <a:pPr marL="0" lvl="0" indent="0" algn="ctr" rtl="0">
              <a:spcBef>
                <a:spcPts val="0"/>
              </a:spcBef>
              <a:spcAft>
                <a:spcPts val="0"/>
              </a:spcAft>
              <a:buNone/>
            </a:pPr>
            <a:r>
              <a:rPr lang="en-US" sz="1400"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Overview of Siamese Neural Network</a:t>
            </a:r>
            <a:endParaRPr lang="en-US" sz="1400"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pic>
        <p:nvPicPr>
          <p:cNvPr id="2" name="Picture 1"/>
          <p:cNvPicPr>
            <a:picLocks noChangeAspect="1"/>
          </p:cNvPicPr>
          <p:nvPr/>
        </p:nvPicPr>
        <p:blipFill>
          <a:blip r:embed="rId1"/>
          <a:stretch>
            <a:fillRect/>
          </a:stretch>
        </p:blipFill>
        <p:spPr>
          <a:xfrm>
            <a:off x="2261870" y="1468120"/>
            <a:ext cx="7356475" cy="4229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153670" y="453390"/>
            <a:ext cx="11200130" cy="137287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0000"/>
              </a:buClr>
              <a:buSzPts val="4400"/>
              <a:buFont typeface="Georgia" panose="02040502050405020303"/>
              <a:buNone/>
            </a:pPr>
            <a:br>
              <a:rPr lang="en-US">
                <a:solidFill>
                  <a:srgbClr val="000000"/>
                </a:solidFill>
                <a:sym typeface="+mn-ea"/>
              </a:rPr>
            </a:br>
            <a:br>
              <a:rPr lang="en-US">
                <a:solidFill>
                  <a:srgbClr val="000000"/>
                </a:solidFill>
                <a:sym typeface="+mn-ea"/>
              </a:rPr>
            </a:br>
            <a:r>
              <a:rPr lang="en-US">
                <a:solidFill>
                  <a:srgbClr val="000000"/>
                </a:solidFill>
                <a:sym typeface="+mn-ea"/>
              </a:rPr>
              <a:t>Architecture Diagram Siamese</a:t>
            </a:r>
            <a:br>
              <a:rPr lang="en-US">
                <a:solidFill>
                  <a:srgbClr val="000000"/>
                </a:solidFill>
                <a:sym typeface="+mn-ea"/>
              </a:rPr>
            </a:br>
            <a:r>
              <a:rPr lang="en-US">
                <a:solidFill>
                  <a:srgbClr val="000000"/>
                </a:solidFill>
                <a:sym typeface="+mn-ea"/>
              </a:rPr>
              <a:t> Network</a:t>
            </a:r>
            <a:br>
              <a:rPr lang="en-US">
                <a:solidFill>
                  <a:srgbClr val="000000"/>
                </a:solidFill>
                <a:sym typeface="+mn-ea"/>
              </a:rPr>
            </a:br>
            <a:br>
              <a:rPr lang="en-US" dirty="0">
                <a:solidFill>
                  <a:srgbClr val="000000"/>
                </a:solidFill>
              </a:rPr>
            </a:br>
            <a:endParaRPr dirty="0"/>
          </a:p>
        </p:txBody>
      </p:sp>
      <p:sp>
        <p:nvSpPr>
          <p:cNvPr id="146" name="Google Shape;146;p19"/>
          <p:cNvSpPr txBox="1">
            <a:spLocks noGrp="1"/>
          </p:cNvSpPr>
          <p:nvPr>
            <p:ph type="ftr" idx="11"/>
          </p:nvPr>
        </p:nvSpPr>
        <p:spPr>
          <a:xfrm>
            <a:off x="3506771" y="6278880"/>
            <a:ext cx="46466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47" name="Google Shape;1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Picture 1"/>
          <p:cNvPicPr>
            <a:picLocks noChangeAspect="1"/>
          </p:cNvPicPr>
          <p:nvPr/>
        </p:nvPicPr>
        <p:blipFill>
          <a:blip r:embed="rId1"/>
          <a:stretch>
            <a:fillRect/>
          </a:stretch>
        </p:blipFill>
        <p:spPr>
          <a:xfrm>
            <a:off x="411480" y="2655570"/>
            <a:ext cx="11536680" cy="28714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Georgia" panose="02040502050405020303"/>
              <a:buNone/>
            </a:pPr>
            <a:r>
              <a:rPr lang="en-US" dirty="0">
                <a:solidFill>
                  <a:srgbClr val="000000"/>
                </a:solidFill>
              </a:rPr>
              <a:t>Implementation</a:t>
            </a:r>
            <a:endParaRPr dirty="0"/>
          </a:p>
        </p:txBody>
      </p:sp>
      <p:sp>
        <p:nvSpPr>
          <p:cNvPr id="161" name="Google Shape;161;p21"/>
          <p:cNvSpPr txBox="1">
            <a:spLocks noGrp="1"/>
          </p:cNvSpPr>
          <p:nvPr>
            <p:ph type="body" idx="1"/>
          </p:nvPr>
        </p:nvSpPr>
        <p:spPr>
          <a:xfrm>
            <a:off x="600364" y="1524000"/>
            <a:ext cx="10753436" cy="4652963"/>
          </a:xfrm>
          <a:prstGeom prst="rect">
            <a:avLst/>
          </a:prstGeom>
          <a:noFill/>
          <a:ln>
            <a:noFill/>
          </a:ln>
        </p:spPr>
        <p:txBody>
          <a:bodyPr spcFirstLastPara="1" wrap="square" lIns="91425" tIns="45700" rIns="91425" bIns="45700" anchor="t" anchorCtr="0">
            <a:normAutofit lnSpcReduction="10000"/>
          </a:bodyPr>
          <a:lstStyle/>
          <a:p>
            <a:pPr marL="285750" indent="-285750">
              <a:spcBef>
                <a:spcPts val="0"/>
              </a:spcBef>
              <a:buSzPts val="2800"/>
              <a:buFont typeface="Wingdings" panose="05000000000000000000" pitchFamily="2" charset="2"/>
              <a:buChar char="Ø"/>
            </a:pPr>
            <a:r>
              <a:rPr lang="en-IN" sz="1800" b="1" dirty="0"/>
              <a:t>Dataset Preparation: </a:t>
            </a:r>
            <a:endParaRPr lang="en-IN" sz="1800" b="1" dirty="0"/>
          </a:p>
          <a:p>
            <a:pPr marL="285750" indent="-285750">
              <a:spcBef>
                <a:spcPts val="0"/>
              </a:spcBef>
              <a:buSzPts val="2800"/>
              <a:buFont typeface="Arial" panose="020B0604020202020204" pitchFamily="34" charset="0"/>
              <a:buChar char="•"/>
            </a:pPr>
            <a:r>
              <a:rPr lang="en-IN" sz="1800" b="1" dirty="0"/>
              <a:t> </a:t>
            </a:r>
            <a:r>
              <a:rPr lang="en-IN" sz="1800" dirty="0"/>
              <a:t>Collected facial image pairs (positive: same person, negative: different people).</a:t>
            </a:r>
            <a:endParaRPr lang="en-IN" sz="1800" dirty="0"/>
          </a:p>
          <a:p>
            <a:pPr marL="285750" indent="-285750">
              <a:spcBef>
                <a:spcPts val="0"/>
              </a:spcBef>
              <a:buSzPts val="2800"/>
              <a:buFont typeface="Arial" panose="020B0604020202020204" pitchFamily="34" charset="0"/>
              <a:buChar char="•"/>
            </a:pPr>
            <a:r>
              <a:rPr lang="en-IN" sz="1800" dirty="0"/>
              <a:t> Applied preprocessing resizing, grayscale conversion, and normalization.</a:t>
            </a:r>
            <a:endParaRPr lang="en-IN" sz="1800" dirty="0"/>
          </a:p>
          <a:p>
            <a:pPr marL="342900">
              <a:spcBef>
                <a:spcPts val="0"/>
              </a:spcBef>
              <a:buSzPts val="2800"/>
              <a:buFont typeface="Arial" panose="020B0604020202020204" pitchFamily="34" charset="0"/>
              <a:buChar char="•"/>
            </a:pPr>
            <a:endParaRPr lang="en-IN" sz="1800" dirty="0"/>
          </a:p>
          <a:p>
            <a:pPr marL="285750" indent="-285750">
              <a:spcBef>
                <a:spcPts val="0"/>
              </a:spcBef>
              <a:buSzPts val="2800"/>
              <a:buFont typeface="Wingdings" panose="05000000000000000000" pitchFamily="2" charset="2"/>
              <a:buChar char="Ø"/>
            </a:pPr>
            <a:r>
              <a:rPr lang="en-IN" sz="1800" b="1" dirty="0"/>
              <a:t>Model Architecture: </a:t>
            </a:r>
            <a:endParaRPr lang="en-IN" sz="1800" b="1" dirty="0"/>
          </a:p>
          <a:p>
            <a:pPr marL="285750" indent="-285750">
              <a:spcBef>
                <a:spcPts val="0"/>
              </a:spcBef>
              <a:buSzPts val="2800"/>
              <a:buFont typeface="Arial" panose="020B0604020202020204" pitchFamily="34" charset="0"/>
              <a:buChar char="•"/>
            </a:pPr>
            <a:r>
              <a:rPr lang="en-IN" sz="1800" b="1" dirty="0"/>
              <a:t>   </a:t>
            </a:r>
            <a:r>
              <a:rPr lang="en-IN" sz="1800" dirty="0"/>
              <a:t>Designed a Siamese Neural Network with twin CNN branches.</a:t>
            </a:r>
            <a:endParaRPr lang="en-IN" sz="1800" dirty="0"/>
          </a:p>
          <a:p>
            <a:pPr marL="285750" indent="-285750">
              <a:spcBef>
                <a:spcPts val="0"/>
              </a:spcBef>
              <a:buSzPts val="2800"/>
              <a:buFont typeface="Arial" panose="020B0604020202020204" pitchFamily="34" charset="0"/>
              <a:buChar char="•"/>
            </a:pPr>
            <a:r>
              <a:rPr lang="en-IN" sz="1800" dirty="0"/>
              <a:t>   Each branch extracts feature embeddings from input images.</a:t>
            </a:r>
            <a:endParaRPr lang="en-IN" sz="1800" dirty="0"/>
          </a:p>
          <a:p>
            <a:pPr marL="228600" indent="-228600">
              <a:spcBef>
                <a:spcPts val="0"/>
              </a:spcBef>
              <a:buSzPts val="2800"/>
            </a:pPr>
            <a:endParaRPr lang="en-IN" sz="1800" dirty="0"/>
          </a:p>
          <a:p>
            <a:pPr marL="285750" indent="-285750">
              <a:spcBef>
                <a:spcPts val="0"/>
              </a:spcBef>
              <a:buSzPts val="2800"/>
              <a:buFont typeface="Wingdings" panose="05000000000000000000" pitchFamily="2" charset="2"/>
              <a:buChar char="Ø"/>
            </a:pPr>
            <a:r>
              <a:rPr lang="en-IN" sz="1800" b="1" dirty="0"/>
              <a:t>Loss Function:</a:t>
            </a:r>
            <a:endParaRPr lang="en-IN" sz="1800" b="1" dirty="0"/>
          </a:p>
          <a:p>
            <a:pPr marL="285750" indent="-285750">
              <a:spcBef>
                <a:spcPts val="0"/>
              </a:spcBef>
              <a:buSzPts val="2800"/>
              <a:buFont typeface="Arial" panose="020B0604020202020204" pitchFamily="34" charset="0"/>
              <a:buChar char="•"/>
            </a:pPr>
            <a:r>
              <a:rPr lang="en-IN" sz="1800" b="1" dirty="0"/>
              <a:t>  </a:t>
            </a:r>
            <a:r>
              <a:rPr lang="en-IN" sz="1800" dirty="0"/>
              <a:t>Used Contrastive Loss to minimize distance between embeddings of similar faces and maximize it for dissimilar ones.</a:t>
            </a:r>
            <a:endParaRPr lang="en-IN" sz="1800" dirty="0"/>
          </a:p>
          <a:p>
            <a:pPr marL="228600" indent="-228600">
              <a:spcBef>
                <a:spcPts val="0"/>
              </a:spcBef>
              <a:buSzPts val="2800"/>
            </a:pPr>
            <a:endParaRPr lang="en-IN" sz="1800" dirty="0"/>
          </a:p>
          <a:p>
            <a:pPr marL="285750" indent="-285750">
              <a:spcBef>
                <a:spcPts val="0"/>
              </a:spcBef>
              <a:buSzPts val="2800"/>
              <a:buFont typeface="Wingdings" panose="05000000000000000000" pitchFamily="2" charset="2"/>
              <a:buChar char="Ø"/>
            </a:pPr>
            <a:r>
              <a:rPr lang="en-IN" sz="1800" b="1" dirty="0"/>
              <a:t>Training Phase: </a:t>
            </a:r>
            <a:endParaRPr lang="en-IN" sz="1800" b="1" dirty="0"/>
          </a:p>
          <a:p>
            <a:pPr marL="228600" indent="-228600">
              <a:spcBef>
                <a:spcPts val="0"/>
              </a:spcBef>
              <a:buSzPts val="2800"/>
            </a:pPr>
            <a:r>
              <a:rPr lang="en-IN" sz="1800" dirty="0"/>
              <a:t>Trained on a </a:t>
            </a:r>
            <a:r>
              <a:rPr lang="en-IN" sz="1800" dirty="0" err="1"/>
              <a:t>labeled</a:t>
            </a:r>
            <a:r>
              <a:rPr lang="en-IN" sz="1800" dirty="0"/>
              <a:t> dataset using paired inputs.</a:t>
            </a:r>
            <a:endParaRPr lang="en-IN" sz="1800" dirty="0"/>
          </a:p>
          <a:p>
            <a:pPr marL="228600" indent="-228600">
              <a:spcBef>
                <a:spcPts val="0"/>
              </a:spcBef>
              <a:buSzPts val="2800"/>
            </a:pPr>
            <a:r>
              <a:rPr lang="en-IN" sz="1800" dirty="0"/>
              <a:t>Implemented data augmentation to enhance generalization.</a:t>
            </a:r>
            <a:endParaRPr lang="en-IN" sz="1800" dirty="0"/>
          </a:p>
          <a:p>
            <a:pPr marL="228600" indent="-228600">
              <a:spcBef>
                <a:spcPts val="0"/>
              </a:spcBef>
              <a:buSzPts val="2800"/>
            </a:pPr>
            <a:endParaRPr lang="en-IN" sz="1800" dirty="0"/>
          </a:p>
          <a:p>
            <a:pPr marL="285750" indent="-285750">
              <a:spcBef>
                <a:spcPts val="0"/>
              </a:spcBef>
              <a:buSzPts val="2800"/>
              <a:buFont typeface="Wingdings" panose="05000000000000000000" pitchFamily="2" charset="2"/>
              <a:buChar char="Ø"/>
            </a:pPr>
            <a:r>
              <a:rPr lang="en-IN" sz="1800" b="1" dirty="0"/>
              <a:t>Testing and Evaluation: </a:t>
            </a:r>
            <a:endParaRPr lang="en-IN" sz="1800" b="1" dirty="0"/>
          </a:p>
          <a:p>
            <a:pPr marL="228600" indent="-228600">
              <a:spcBef>
                <a:spcPts val="0"/>
              </a:spcBef>
              <a:buSzPts val="2800"/>
            </a:pPr>
            <a:r>
              <a:rPr lang="en-IN" sz="1800" dirty="0"/>
              <a:t>Tested model on unseen face pairs to evaluate similarity scoring.</a:t>
            </a:r>
            <a:endParaRPr lang="en-IN" sz="1800" dirty="0"/>
          </a:p>
          <a:p>
            <a:pPr marL="228600" indent="-228600">
              <a:spcBef>
                <a:spcPts val="0"/>
              </a:spcBef>
              <a:buSzPts val="2800"/>
            </a:pPr>
            <a:r>
              <a:rPr lang="en-IN" sz="1800" dirty="0"/>
              <a:t> Achieved high accuracy in face verification tasks.</a:t>
            </a:r>
            <a:endParaRPr sz="2000" dirty="0"/>
          </a:p>
        </p:txBody>
      </p:sp>
      <p:sp>
        <p:nvSpPr>
          <p:cNvPr id="162" name="Google Shape;16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dirty="0"/>
          </a:p>
        </p:txBody>
      </p:sp>
      <p:sp>
        <p:nvSpPr>
          <p:cNvPr id="163" name="Google Shape;16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Georgia" panose="02040502050405020303"/>
              <a:buNone/>
            </a:pPr>
            <a:r>
              <a:rPr lang="en-US" dirty="0"/>
              <a:t>Results</a:t>
            </a:r>
            <a:endParaRPr lang="en-US" dirty="0"/>
          </a:p>
        </p:txBody>
      </p:sp>
      <p:sp>
        <p:nvSpPr>
          <p:cNvPr id="170" name="Google Shape;17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71" name="Google Shape;17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3" name="Picture 2"/>
          <p:cNvPicPr>
            <a:picLocks noChangeAspect="1"/>
          </p:cNvPicPr>
          <p:nvPr/>
        </p:nvPicPr>
        <p:blipFill>
          <a:blip r:embed="rId1"/>
          <a:srcRect t="3229" r="52513"/>
          <a:stretch>
            <a:fillRect/>
          </a:stretch>
        </p:blipFill>
        <p:spPr>
          <a:xfrm>
            <a:off x="548640" y="1691005"/>
            <a:ext cx="2682240" cy="3749040"/>
          </a:xfrm>
          <a:prstGeom prst="rect">
            <a:avLst/>
          </a:prstGeom>
        </p:spPr>
      </p:pic>
      <p:pic>
        <p:nvPicPr>
          <p:cNvPr id="2" name="Picture 1" descr="Screenshot 2025-04-29 174833"/>
          <p:cNvPicPr>
            <a:picLocks noChangeAspect="1"/>
          </p:cNvPicPr>
          <p:nvPr/>
        </p:nvPicPr>
        <p:blipFill>
          <a:blip r:embed="rId2"/>
          <a:srcRect l="4994" t="7676" r="10631" b="5047"/>
          <a:stretch>
            <a:fillRect/>
          </a:stretch>
        </p:blipFill>
        <p:spPr>
          <a:xfrm>
            <a:off x="3105785" y="1788795"/>
            <a:ext cx="4084320" cy="3553460"/>
          </a:xfrm>
          <a:prstGeom prst="rect">
            <a:avLst/>
          </a:prstGeom>
        </p:spPr>
      </p:pic>
      <p:pic>
        <p:nvPicPr>
          <p:cNvPr id="4" name="Picture 3" descr="Screenshot 2025-04-29 174935"/>
          <p:cNvPicPr>
            <a:picLocks noChangeAspect="1"/>
          </p:cNvPicPr>
          <p:nvPr/>
        </p:nvPicPr>
        <p:blipFill>
          <a:blip r:embed="rId3"/>
          <a:stretch>
            <a:fillRect/>
          </a:stretch>
        </p:blipFill>
        <p:spPr>
          <a:xfrm>
            <a:off x="7558405" y="2437765"/>
            <a:ext cx="3621405" cy="2806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3"/>
          <p:cNvSpPr txBox="1">
            <a:spLocks noGrp="1"/>
          </p:cNvSpPr>
          <p:nvPr>
            <p:ph type="title"/>
          </p:nvPr>
        </p:nvSpPr>
        <p:spPr>
          <a:xfrm>
            <a:off x="838200" y="50989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Georgia" panose="02040502050405020303"/>
              <a:buNone/>
            </a:pPr>
            <a:r>
              <a:rPr lang="en-US" dirty="0">
                <a:solidFill>
                  <a:srgbClr val="000000"/>
                </a:solidFill>
              </a:rPr>
              <a:t>Conclusion</a:t>
            </a:r>
            <a:br>
              <a:rPr lang="en-US" dirty="0">
                <a:solidFill>
                  <a:srgbClr val="000000"/>
                </a:solidFill>
              </a:rPr>
            </a:br>
            <a:endParaRPr dirty="0"/>
          </a:p>
        </p:txBody>
      </p:sp>
      <p:sp>
        <p:nvSpPr>
          <p:cNvPr id="177" name="Google Shape;177;p23"/>
          <p:cNvSpPr txBox="1">
            <a:spLocks noGrp="1"/>
          </p:cNvSpPr>
          <p:nvPr>
            <p:ph type="body" idx="1"/>
          </p:nvPr>
        </p:nvSpPr>
        <p:spPr>
          <a:xfrm>
            <a:off x="838200" y="1666124"/>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800"/>
              <a:buChar char="•"/>
            </a:pPr>
            <a:r>
              <a:rPr lang="en-US" sz="2000" dirty="0"/>
              <a:t>Advanced Face Recognition: The project successfully demonstrates the potential of Siamese Networks in enhancing the accuracy of face recognition systems, offering a more reliable and efficient solution compared to traditional methods.</a:t>
            </a:r>
            <a:endParaRPr lang="en-US" sz="2000" dirty="0"/>
          </a:p>
          <a:p>
            <a:pPr marL="228600" lvl="0" indent="-228600" algn="l" rtl="0">
              <a:lnSpc>
                <a:spcPct val="100000"/>
              </a:lnSpc>
              <a:spcBef>
                <a:spcPts val="0"/>
              </a:spcBef>
              <a:spcAft>
                <a:spcPts val="0"/>
              </a:spcAft>
              <a:buClr>
                <a:schemeClr val="dk1"/>
              </a:buClr>
              <a:buSzPts val="2800"/>
              <a:buChar char="•"/>
            </a:pPr>
            <a:r>
              <a:rPr lang="en-US" sz="2000" dirty="0"/>
              <a:t>Touchless and Scalable Solution: By leveraging deep learning techniques, our system ensures touchless identification, making it ideal for diverse environments and applications while maintaining scalability for both small and large user groups.</a:t>
            </a:r>
            <a:endParaRPr lang="en-US" sz="2000" dirty="0"/>
          </a:p>
          <a:p>
            <a:pPr marL="228600" lvl="0" indent="-228600" algn="l" rtl="0">
              <a:lnSpc>
                <a:spcPct val="100000"/>
              </a:lnSpc>
              <a:spcBef>
                <a:spcPts val="0"/>
              </a:spcBef>
              <a:spcAft>
                <a:spcPts val="0"/>
              </a:spcAft>
              <a:buClr>
                <a:schemeClr val="dk1"/>
              </a:buClr>
              <a:buSzPts val="2800"/>
              <a:buChar char="•"/>
            </a:pPr>
            <a:r>
              <a:rPr lang="en-US" sz="2000" dirty="0"/>
              <a:t>Data Privacy and Compliance: The system is designed with data privacy in mind, following best practices for secure data handling to maintain user trust and adherence to regulations.</a:t>
            </a:r>
            <a:endParaRPr lang="en-US" sz="2000" dirty="0"/>
          </a:p>
          <a:p>
            <a:pPr marL="228600" lvl="0" indent="-228600" algn="l" rtl="0">
              <a:lnSpc>
                <a:spcPct val="100000"/>
              </a:lnSpc>
              <a:spcBef>
                <a:spcPts val="0"/>
              </a:spcBef>
              <a:spcAft>
                <a:spcPts val="0"/>
              </a:spcAft>
              <a:buClr>
                <a:schemeClr val="dk1"/>
              </a:buClr>
              <a:buSzPts val="2800"/>
              <a:buChar char="•"/>
            </a:pPr>
            <a:r>
              <a:rPr lang="en-US" sz="2000" dirty="0"/>
              <a:t>Future Prospects: The robust and adaptable architecture makes this system a promising foundation for future developments, including real-time recognition and integration with existing security systems.</a:t>
            </a:r>
            <a:endParaRPr sz="2000" dirty="0"/>
          </a:p>
        </p:txBody>
      </p:sp>
      <p:sp>
        <p:nvSpPr>
          <p:cNvPr id="178" name="Google Shape;17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79" name="Google Shape;17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Georgia" panose="02040502050405020303"/>
              <a:buNone/>
            </a:pPr>
            <a:r>
              <a:rPr lang="en-US"/>
              <a:t>References</a:t>
            </a:r>
            <a:endParaRPr lang="en-US"/>
          </a:p>
        </p:txBody>
      </p:sp>
      <p:sp>
        <p:nvSpPr>
          <p:cNvPr id="185" name="Google Shape;185;p24"/>
          <p:cNvSpPr txBox="1">
            <a:spLocks noGrp="1"/>
          </p:cNvSpPr>
          <p:nvPr>
            <p:ph type="body" idx="1"/>
          </p:nvPr>
        </p:nvSpPr>
        <p:spPr>
          <a:xfrm>
            <a:off x="838200" y="1690688"/>
            <a:ext cx="10515600" cy="4351338"/>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dk1"/>
                </a:solidFill>
              </a:rPr>
              <a:t>[1]    S</a:t>
            </a:r>
            <a:r>
              <a:rPr lang="en-US" sz="5600" dirty="0">
                <a:solidFill>
                  <a:schemeClr val="tx1"/>
                </a:solidFill>
              </a:rPr>
              <a:t>iamese Neural Networks for One-shot Image Recognition- Gregory Koch, Richard Zemel , Ruslan </a:t>
            </a:r>
            <a:r>
              <a:rPr lang="en-US" sz="5600" dirty="0" err="1">
                <a:solidFill>
                  <a:schemeClr val="tx1"/>
                </a:solidFill>
              </a:rPr>
              <a:t>Salakhutdinov</a:t>
            </a:r>
            <a:r>
              <a:rPr lang="en-US" sz="5600" dirty="0">
                <a:solidFill>
                  <a:schemeClr val="tx1"/>
                </a:solidFill>
              </a:rPr>
              <a:t>. Department of Computer Science, University of Toronto. Toronto, Ontario, Canada.</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[2]     Algorithm for Efficient Attendance Management: Face Recognition based approach- </a:t>
            </a:r>
            <a:r>
              <a:rPr lang="en-US" sz="5600" dirty="0" err="1">
                <a:solidFill>
                  <a:schemeClr val="tx1"/>
                </a:solidFill>
              </a:rPr>
              <a:t>Waquar</a:t>
            </a:r>
            <a:r>
              <a:rPr lang="en-US" sz="5600" dirty="0">
                <a:solidFill>
                  <a:schemeClr val="tx1"/>
                </a:solidFill>
              </a:rPr>
              <a:t> </a:t>
            </a:r>
            <a:r>
              <a:rPr lang="en-US" sz="5600" dirty="0" err="1">
                <a:solidFill>
                  <a:schemeClr val="tx1"/>
                </a:solidFill>
              </a:rPr>
              <a:t>ahmad</a:t>
            </a:r>
            <a:r>
              <a:rPr lang="en-US" sz="5600" dirty="0">
                <a:solidFill>
                  <a:schemeClr val="tx1"/>
                </a:solidFill>
              </a:rPr>
              <a:t>, Muhammad Iram Baig, Naveed khan Baloch,    International Journal of Computer Science Issues</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[3]   Deep Face: Closing the Gap to Human-Level Performance in Face Verification-Yaniv </a:t>
            </a:r>
            <a:r>
              <a:rPr lang="en-US" sz="5600" dirty="0" err="1">
                <a:solidFill>
                  <a:schemeClr val="tx1"/>
                </a:solidFill>
              </a:rPr>
              <a:t>Taigman</a:t>
            </a:r>
            <a:r>
              <a:rPr lang="en-US" sz="5600" dirty="0">
                <a:solidFill>
                  <a:schemeClr val="tx1"/>
                </a:solidFill>
              </a:rPr>
              <a:t>, Ming Yang, Marc' Aurelio </a:t>
            </a:r>
            <a:r>
              <a:rPr lang="en-US" sz="5600" dirty="0" err="1">
                <a:solidFill>
                  <a:schemeClr val="tx1"/>
                </a:solidFill>
              </a:rPr>
              <a:t>Ranzato</a:t>
            </a:r>
            <a:r>
              <a:rPr lang="en-US" sz="5600" dirty="0">
                <a:solidFill>
                  <a:schemeClr val="tx1"/>
                </a:solidFill>
              </a:rPr>
              <a:t>, Lior Wolf, Facebook AI Research Menlo Park, CA, USA</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[4]    Face Net: A Unified Embedding for Face Recognition and Clustering - Florian Schroff, Dmitry </a:t>
            </a:r>
            <a:r>
              <a:rPr lang="en-US" sz="5600" dirty="0" err="1">
                <a:solidFill>
                  <a:schemeClr val="tx1"/>
                </a:solidFill>
              </a:rPr>
              <a:t>Kalenichenko</a:t>
            </a:r>
            <a:r>
              <a:rPr lang="en-US" sz="5600" dirty="0">
                <a:solidFill>
                  <a:schemeClr val="tx1"/>
                </a:solidFill>
              </a:rPr>
              <a:t>, James Philbin. Google Inc.</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[5]     A brief history of Facial Recognition, NEC, New Zealand,26 May 2020.[Online]. </a:t>
            </a:r>
            <a:r>
              <a:rPr lang="en-US" sz="5600" dirty="0" err="1">
                <a:solidFill>
                  <a:schemeClr val="tx1"/>
                </a:solidFill>
              </a:rPr>
              <a:t>Available:</a:t>
            </a:r>
            <a:r>
              <a:rPr lang="en-US" sz="5600" u="sng" dirty="0" err="1">
                <a:solidFill>
                  <a:schemeClr val="tx1"/>
                </a:solidFill>
                <a:hlinkClick r:id="rId1"/>
              </a:rPr>
              <a:t>https</a:t>
            </a:r>
            <a:r>
              <a:rPr lang="en-US" sz="5600" u="sng" dirty="0">
                <a:solidFill>
                  <a:schemeClr val="tx1"/>
                </a:solidFill>
                <a:hlinkClick r:id="rId1"/>
              </a:rPr>
              <a:t>://www.nec.co.nz/market-leadership/publications-media/a-brief-history-of-facialrecognition/</a:t>
            </a:r>
            <a:endParaRPr lang="en-US" sz="5600" u="sng"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[6]     Face </a:t>
            </a:r>
            <a:r>
              <a:rPr lang="en-US" sz="5600" dirty="0" err="1">
                <a:solidFill>
                  <a:schemeClr val="tx1"/>
                </a:solidFill>
              </a:rPr>
              <a:t>detection,TechTarget</a:t>
            </a:r>
            <a:r>
              <a:rPr lang="en-US" sz="5600" dirty="0">
                <a:solidFill>
                  <a:schemeClr val="tx1"/>
                </a:solidFill>
              </a:rPr>
              <a:t> Network, Corinne Bernstein, Feb, 2020.[Online]. Available:</a:t>
            </a:r>
            <a:r>
              <a:rPr lang="en-US" sz="5600" dirty="0">
                <a:solidFill>
                  <a:schemeClr val="tx1"/>
                </a:solidFill>
                <a:uFill>
                  <a:noFill/>
                </a:uFill>
                <a:hlinkClick r:id="rId2"/>
              </a:rPr>
              <a:t> </a:t>
            </a:r>
            <a:r>
              <a:rPr lang="en-US" sz="5600" u="sng" dirty="0">
                <a:solidFill>
                  <a:schemeClr val="tx1"/>
                </a:solidFill>
                <a:hlinkClick r:id="rId2"/>
              </a:rPr>
              <a:t>https://searchenterpriseai.techtarget.com/definition/face-detection</a:t>
            </a:r>
            <a:r>
              <a:rPr lang="en-US" sz="5600" dirty="0">
                <a:solidFill>
                  <a:schemeClr val="tx1"/>
                </a:solidFill>
              </a:rPr>
              <a:t>.</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[7]     Paul Viola and Michael Jones, Rapid Object Detection using a Boosted Cascade of Simple Features. Accepted Conference on Computer Vision and  Pattern Re cognition, 2001.</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[8]     Face Detection with Haar </a:t>
            </a:r>
            <a:r>
              <a:rPr lang="en-US" sz="5600" dirty="0" err="1">
                <a:solidFill>
                  <a:schemeClr val="tx1"/>
                </a:solidFill>
              </a:rPr>
              <a:t>Cascade,Towards</a:t>
            </a:r>
            <a:r>
              <a:rPr lang="en-US" sz="5600" dirty="0">
                <a:solidFill>
                  <a:schemeClr val="tx1"/>
                </a:solidFill>
              </a:rPr>
              <a:t> Data Science-727f68dafd08,Girija Shankar Behera, India, Dec 24, 2020.[Online]. Available: </a:t>
            </a:r>
            <a:r>
              <a:rPr lang="en-US" sz="5600" u="sng" dirty="0">
                <a:solidFill>
                  <a:schemeClr val="tx1"/>
                </a:solidFill>
                <a:hlinkClick r:id="rId3"/>
              </a:rPr>
              <a:t>https://towardsdatascience.com/face-detectionwith-haar-cascade-727f68dafd08</a:t>
            </a:r>
            <a:r>
              <a:rPr lang="en-US" sz="5600" dirty="0">
                <a:solidFill>
                  <a:schemeClr val="tx1"/>
                </a:solidFill>
              </a:rPr>
              <a:t>.</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[9]     Face Recognition: Understanding LBPH </a:t>
            </a:r>
            <a:r>
              <a:rPr lang="en-US" sz="5600" dirty="0" err="1">
                <a:solidFill>
                  <a:schemeClr val="tx1"/>
                </a:solidFill>
              </a:rPr>
              <a:t>Algorithm,Towards</a:t>
            </a:r>
            <a:r>
              <a:rPr lang="en-US" sz="5600" dirty="0">
                <a:solidFill>
                  <a:schemeClr val="tx1"/>
                </a:solidFill>
              </a:rPr>
              <a:t> Data Science90ec258c3d6b,Kelvin Salton do Prado, Nov 11, 2017.[Online].</a:t>
            </a:r>
            <a:r>
              <a:rPr lang="en-US" sz="5600" dirty="0" err="1">
                <a:solidFill>
                  <a:schemeClr val="tx1"/>
                </a:solidFill>
              </a:rPr>
              <a:t>Available:https</a:t>
            </a:r>
            <a:r>
              <a:rPr lang="en-US" sz="5600" dirty="0">
                <a:solidFill>
                  <a:schemeClr val="tx1"/>
                </a:solidFill>
              </a:rPr>
              <a:t>://towardsdatascience.com/face-recognition-how-lbph-works-90ec258c3d6b.</a:t>
            </a:r>
            <a:endParaRPr lang="en-US" sz="5600" dirty="0">
              <a:solidFill>
                <a:schemeClr val="tx1"/>
              </a:solidFill>
            </a:endParaRPr>
          </a:p>
          <a:p>
            <a:pPr marL="0" lvl="0" indent="0" algn="l" rtl="0">
              <a:lnSpc>
                <a:spcPct val="90000"/>
              </a:lnSpc>
              <a:spcBef>
                <a:spcPts val="1200"/>
              </a:spcBef>
              <a:spcAft>
                <a:spcPts val="0"/>
              </a:spcAft>
              <a:buClr>
                <a:schemeClr val="dk1"/>
              </a:buClr>
              <a:buSzPts val="1100"/>
              <a:buFont typeface="Arial" panose="020B0604020202020204"/>
              <a:buNone/>
            </a:pPr>
            <a:r>
              <a:rPr lang="en-US" sz="5600" dirty="0">
                <a:solidFill>
                  <a:schemeClr val="tx1"/>
                </a:solidFill>
              </a:rPr>
              <a:t>[10]   What is Facial Recognition and how sinister is it, </a:t>
            </a:r>
            <a:r>
              <a:rPr lang="en-US" sz="5600" dirty="0" err="1">
                <a:solidFill>
                  <a:schemeClr val="tx1"/>
                </a:solidFill>
              </a:rPr>
              <a:t>Theguardian</a:t>
            </a:r>
            <a:r>
              <a:rPr lang="en-US" sz="5600" dirty="0">
                <a:solidFill>
                  <a:schemeClr val="tx1"/>
                </a:solidFill>
              </a:rPr>
              <a:t>, </a:t>
            </a:r>
            <a:r>
              <a:rPr lang="en-US" sz="5600" dirty="0" err="1">
                <a:solidFill>
                  <a:schemeClr val="tx1"/>
                </a:solidFill>
              </a:rPr>
              <a:t>IanSample</a:t>
            </a:r>
            <a:r>
              <a:rPr lang="en-US" sz="5600" dirty="0">
                <a:solidFill>
                  <a:schemeClr val="tx1"/>
                </a:solidFill>
              </a:rPr>
              <a:t>, July, 2019. [Online]. Available:</a:t>
            </a:r>
            <a:r>
              <a:rPr lang="en-US" sz="5600" dirty="0">
                <a:solidFill>
                  <a:schemeClr val="tx1"/>
                </a:solidFill>
                <a:uFill>
                  <a:noFill/>
                </a:uFill>
                <a:hlinkClick r:id="rId4"/>
              </a:rPr>
              <a:t> </a:t>
            </a:r>
            <a:r>
              <a:rPr lang="en-US" sz="5600" u="sng" dirty="0">
                <a:solidFill>
                  <a:schemeClr val="tx1"/>
                </a:solidFill>
                <a:hlinkClick r:id="rId4"/>
              </a:rPr>
              <a:t>https://www.theguardian.com/technology/2019/jul/29/what-is-facialrecognition-and-how-sinister-is-it</a:t>
            </a:r>
            <a:r>
              <a:rPr lang="en-US" sz="5600" dirty="0">
                <a:solidFill>
                  <a:schemeClr val="tx1"/>
                </a:solidFill>
              </a:rPr>
              <a:t>.</a:t>
            </a:r>
            <a:endParaRPr lang="en-US" sz="5600" dirty="0">
              <a:solidFill>
                <a:schemeClr val="tx1"/>
              </a:solidFill>
            </a:endParaRPr>
          </a:p>
          <a:p>
            <a:pPr marL="0" lvl="0" indent="0" algn="l" rtl="0">
              <a:lnSpc>
                <a:spcPct val="90000"/>
              </a:lnSpc>
              <a:spcBef>
                <a:spcPts val="0"/>
              </a:spcBef>
              <a:spcAft>
                <a:spcPts val="0"/>
              </a:spcAft>
              <a:buClr>
                <a:schemeClr val="dk1"/>
              </a:buClr>
              <a:buSzPct val="100000"/>
              <a:buNone/>
            </a:pPr>
            <a:endParaRPr dirty="0"/>
          </a:p>
        </p:txBody>
      </p:sp>
      <p:sp>
        <p:nvSpPr>
          <p:cNvPr id="186" name="Google Shape;18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187" name="Google Shape;18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7"/>
          <p:cNvSpPr txBox="1">
            <a:spLocks noGrp="1"/>
          </p:cNvSpPr>
          <p:nvPr>
            <p:ph type="title"/>
          </p:nvPr>
        </p:nvSpPr>
        <p:spPr>
          <a:xfrm>
            <a:off x="1057275" y="282257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60000"/>
              <a:buFont typeface="Georgia" panose="02040502050405020303"/>
              <a:buNone/>
            </a:pPr>
            <a:br>
              <a:rPr lang="en-US"/>
            </a:br>
            <a:br>
              <a:rPr lang="en-US"/>
            </a:br>
            <a:r>
              <a:rPr lang="en-US"/>
              <a:t> </a:t>
            </a:r>
            <a:r>
              <a:rPr lang="en-US" sz="7300"/>
              <a:t>THANK- YOU</a:t>
            </a:r>
            <a:endParaRPr sz="7300"/>
          </a:p>
        </p:txBody>
      </p:sp>
      <p:sp>
        <p:nvSpPr>
          <p:cNvPr id="209" name="Google Shape;20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Face Recognition using Siamese Networks</a:t>
            </a:r>
            <a:endParaRPr lang="en-US" dirty="0"/>
          </a:p>
        </p:txBody>
      </p:sp>
      <p:sp>
        <p:nvSpPr>
          <p:cNvPr id="210" name="Google Shape;21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8742</Words>
  <Application>WPS Slides</Application>
  <PresentationFormat>Widescreen</PresentationFormat>
  <Paragraphs>182</Paragraphs>
  <Slides>14</Slides>
  <Notes>14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Georgia</vt:lpstr>
      <vt:lpstr>Bookman Old Style</vt:lpstr>
      <vt:lpstr>Arial Narrow</vt:lpstr>
      <vt:lpstr>Calibri</vt:lpstr>
      <vt:lpstr>Microsoft YaHei</vt:lpstr>
      <vt:lpstr>Arial Unicode MS</vt:lpstr>
      <vt:lpstr>Office Theme</vt:lpstr>
      <vt:lpstr>Presentation on Face Recognition using Siamese Networks  By  Prathamesh Bhaskar  –A- 22111077- 411005 Prajwal Rahte –A - 22110942- 411047 Roshan Jadhav  –A- 22220205- 411019 Yash Patil  –A- 22110340- 411079   Subject : Computer Vision</vt:lpstr>
      <vt:lpstr>Outline</vt:lpstr>
      <vt:lpstr>Introduction</vt:lpstr>
      <vt:lpstr>Motivation</vt:lpstr>
      <vt:lpstr> Literature Survey </vt:lpstr>
      <vt:lpstr> Objectives or Aim and Objectives </vt:lpstr>
      <vt:lpstr>Block Diagram </vt:lpstr>
      <vt:lpstr>Methodology </vt:lpstr>
      <vt:lpstr>Methodology </vt:lpstr>
      <vt:lpstr>Implementation</vt:lpstr>
      <vt:lpstr>Results</vt:lpstr>
      <vt:lpstr>Conclusion </vt:lpstr>
      <vt:lpstr>References</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Sankalp Patil</dc:creator>
  <cp:lastModifiedBy>Prajwal Rahate</cp:lastModifiedBy>
  <cp:revision>12</cp:revision>
  <dcterms:created xsi:type="dcterms:W3CDTF">2025-04-27T17:24:00Z</dcterms:created>
  <dcterms:modified xsi:type="dcterms:W3CDTF">2025-05-13T17:27:41Z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963BBF459DF24B4EA7B07A473EEC8063_12</vt:lpwstr>
  </property>
  <property fmtid="{D5CDD505-2E9C-101B-9397-08002B2CF9AE}" pid="3" name="KSOProductBuildVer">
    <vt:lpwstr>1033-12.2.0.20795</vt:lpwstr>
  </property>
</Properties>
</file>